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7" r:id="rId2"/>
    <p:sldId id="263" r:id="rId3"/>
    <p:sldId id="258" r:id="rId4"/>
    <p:sldId id="266" r:id="rId5"/>
    <p:sldId id="259" r:id="rId6"/>
    <p:sldId id="264" r:id="rId7"/>
    <p:sldId id="265" r:id="rId8"/>
    <p:sldId id="260" r:id="rId9"/>
    <p:sldId id="270" r:id="rId10"/>
    <p:sldId id="261" r:id="rId11"/>
    <p:sldId id="271" r:id="rId12"/>
    <p:sldId id="272" r:id="rId13"/>
  </p:sldIdLst>
  <p:sldSz cx="12192000" cy="6858000"/>
  <p:notesSz cx="6858000" cy="9144000"/>
  <p:embeddedFontLst>
    <p:embeddedFont>
      <p:font typeface="나눔스퀘어_ac Bold" panose="020B0600000101010101" pitchFamily="50" charset="-127"/>
      <p:bold r:id="rId15"/>
    </p:embeddedFont>
    <p:embeddedFont>
      <p:font typeface="나눔스퀘어_ac Light" panose="020B0600000101010101" pitchFamily="50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8387" autoAdjust="0"/>
  </p:normalViewPr>
  <p:slideViewPr>
    <p:cSldViewPr snapToGrid="0">
      <p:cViewPr varScale="1">
        <p:scale>
          <a:sx n="66" d="100"/>
          <a:sy n="66" d="100"/>
        </p:scale>
        <p:origin x="1320" y="27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ldbs thd" userId="519fbdc9f5a82c56" providerId="LiveId" clId="{00E4D94E-72E3-47C5-982C-3C51C28D8BEB}"/>
    <pc:docChg chg="modSld">
      <pc:chgData name="wldbs thd" userId="519fbdc9f5a82c56" providerId="LiveId" clId="{00E4D94E-72E3-47C5-982C-3C51C28D8BEB}" dt="2026-03-04T20:48:21.632" v="16" actId="20577"/>
      <pc:docMkLst>
        <pc:docMk/>
      </pc:docMkLst>
      <pc:sldChg chg="modNotesTx">
        <pc:chgData name="wldbs thd" userId="519fbdc9f5a82c56" providerId="LiveId" clId="{00E4D94E-72E3-47C5-982C-3C51C28D8BEB}" dt="2026-03-04T20:47:55.238" v="4" actId="20577"/>
        <pc:sldMkLst>
          <pc:docMk/>
          <pc:sldMk cId="2495543314" sldId="257"/>
        </pc:sldMkLst>
      </pc:sldChg>
      <pc:sldChg chg="modNotesTx">
        <pc:chgData name="wldbs thd" userId="519fbdc9f5a82c56" providerId="LiveId" clId="{00E4D94E-72E3-47C5-982C-3C51C28D8BEB}" dt="2026-03-04T20:47:59.026" v="6" actId="20577"/>
        <pc:sldMkLst>
          <pc:docMk/>
          <pc:sldMk cId="3711219516" sldId="258"/>
        </pc:sldMkLst>
      </pc:sldChg>
      <pc:sldChg chg="modNotesTx">
        <pc:chgData name="wldbs thd" userId="519fbdc9f5a82c56" providerId="LiveId" clId="{00E4D94E-72E3-47C5-982C-3C51C28D8BEB}" dt="2026-03-04T20:48:03.581" v="8" actId="20577"/>
        <pc:sldMkLst>
          <pc:docMk/>
          <pc:sldMk cId="1442777716" sldId="259"/>
        </pc:sldMkLst>
      </pc:sldChg>
      <pc:sldChg chg="modNotesTx">
        <pc:chgData name="wldbs thd" userId="519fbdc9f5a82c56" providerId="LiveId" clId="{00E4D94E-72E3-47C5-982C-3C51C28D8BEB}" dt="2026-03-04T20:48:14.083" v="12" actId="20577"/>
        <pc:sldMkLst>
          <pc:docMk/>
          <pc:sldMk cId="3434838393" sldId="260"/>
        </pc:sldMkLst>
      </pc:sldChg>
      <pc:sldChg chg="modNotesTx">
        <pc:chgData name="wldbs thd" userId="519fbdc9f5a82c56" providerId="LiveId" clId="{00E4D94E-72E3-47C5-982C-3C51C28D8BEB}" dt="2026-03-04T20:48:18.180" v="14" actId="20577"/>
        <pc:sldMkLst>
          <pc:docMk/>
          <pc:sldMk cId="3041929078" sldId="261"/>
        </pc:sldMkLst>
      </pc:sldChg>
      <pc:sldChg chg="modNotesTx">
        <pc:chgData name="wldbs thd" userId="519fbdc9f5a82c56" providerId="LiveId" clId="{00E4D94E-72E3-47C5-982C-3C51C28D8BEB}" dt="2026-03-04T20:47:57.417" v="5" actId="20577"/>
        <pc:sldMkLst>
          <pc:docMk/>
          <pc:sldMk cId="3741829863" sldId="263"/>
        </pc:sldMkLst>
      </pc:sldChg>
      <pc:sldChg chg="modNotesTx">
        <pc:chgData name="wldbs thd" userId="519fbdc9f5a82c56" providerId="LiveId" clId="{00E4D94E-72E3-47C5-982C-3C51C28D8BEB}" dt="2026-03-04T20:48:06.015" v="9" actId="20577"/>
        <pc:sldMkLst>
          <pc:docMk/>
          <pc:sldMk cId="3191707055" sldId="264"/>
        </pc:sldMkLst>
      </pc:sldChg>
      <pc:sldChg chg="modNotesTx">
        <pc:chgData name="wldbs thd" userId="519fbdc9f5a82c56" providerId="LiveId" clId="{00E4D94E-72E3-47C5-982C-3C51C28D8BEB}" dt="2026-03-04T20:48:09.710" v="10" actId="20577"/>
        <pc:sldMkLst>
          <pc:docMk/>
          <pc:sldMk cId="3425799067" sldId="265"/>
        </pc:sldMkLst>
      </pc:sldChg>
      <pc:sldChg chg="modNotesTx">
        <pc:chgData name="wldbs thd" userId="519fbdc9f5a82c56" providerId="LiveId" clId="{00E4D94E-72E3-47C5-982C-3C51C28D8BEB}" dt="2026-03-04T20:48:01.722" v="7" actId="20577"/>
        <pc:sldMkLst>
          <pc:docMk/>
          <pc:sldMk cId="2625645951" sldId="266"/>
        </pc:sldMkLst>
      </pc:sldChg>
      <pc:sldChg chg="modNotesTx">
        <pc:chgData name="wldbs thd" userId="519fbdc9f5a82c56" providerId="LiveId" clId="{00E4D94E-72E3-47C5-982C-3C51C28D8BEB}" dt="2026-03-04T20:48:16.015" v="13" actId="20577"/>
        <pc:sldMkLst>
          <pc:docMk/>
          <pc:sldMk cId="3585329365" sldId="270"/>
        </pc:sldMkLst>
      </pc:sldChg>
      <pc:sldChg chg="modNotesTx">
        <pc:chgData name="wldbs thd" userId="519fbdc9f5a82c56" providerId="LiveId" clId="{00E4D94E-72E3-47C5-982C-3C51C28D8BEB}" dt="2026-03-04T20:48:20.151" v="15" actId="20577"/>
        <pc:sldMkLst>
          <pc:docMk/>
          <pc:sldMk cId="817969803" sldId="271"/>
        </pc:sldMkLst>
      </pc:sldChg>
      <pc:sldChg chg="modNotesTx">
        <pc:chgData name="wldbs thd" userId="519fbdc9f5a82c56" providerId="LiveId" clId="{00E4D94E-72E3-47C5-982C-3C51C28D8BEB}" dt="2026-03-04T20:48:21.632" v="16" actId="20577"/>
        <pc:sldMkLst>
          <pc:docMk/>
          <pc:sldMk cId="135754657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_ac Light" panose="020B0600000101010101" pitchFamily="50" charset="-127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_ac Light" panose="020B0600000101010101" pitchFamily="50" charset="-127"/>
              </a:defRPr>
            </a:lvl1pPr>
          </a:lstStyle>
          <a:p>
            <a:fld id="{1D50D52C-62C5-490A-9A29-FC382BFD978D}" type="datetimeFigureOut">
              <a:rPr lang="en-GB" smtClean="0"/>
              <a:pPr/>
              <a:t>04/03/2026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_ac Light" panose="020B0600000101010101" pitchFamily="50" charset="-127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_ac Light" panose="020B0600000101010101" pitchFamily="50" charset="-127"/>
              </a:defRPr>
            </a:lvl1pPr>
          </a:lstStyle>
          <a:p>
            <a:fld id="{8D552104-D140-4FF9-8B4A-3D21EC4BAFE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9539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나눔스퀘어_ac Light" panose="020B0600000101010101" pitchFamily="50" charset="-127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나눔스퀘어_ac Light" panose="020B0600000101010101" pitchFamily="50" charset="-127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나눔스퀘어_ac Light" panose="020B0600000101010101" pitchFamily="50" charset="-127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나눔스퀘어_ac Light" panose="020B0600000101010101" pitchFamily="50" charset="-127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나눔스퀘어_ac Light" panose="020B0600000101010101" pitchFamily="50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2104-D140-4FF9-8B4A-3D21EC4BAFE9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812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2104-D140-4FF9-8B4A-3D21EC4BAFE9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763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7200" fontAlgn="base">
              <a:lnSpc>
                <a:spcPct val="115000"/>
              </a:lnSpc>
              <a:spcAft>
                <a:spcPts val="800"/>
              </a:spcAft>
            </a:pPr>
            <a:endParaRPr lang="en-GB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2104-D140-4FF9-8B4A-3D21EC4BAFE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893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2104-D140-4FF9-8B4A-3D21EC4BAFE9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7388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2104-D140-4FF9-8B4A-3D21EC4BAFE9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6647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2104-D140-4FF9-8B4A-3D21EC4BAFE9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9323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2104-D140-4FF9-8B4A-3D21EC4BAFE9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200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2104-D140-4FF9-8B4A-3D21EC4BAFE9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9760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55A6F-F29A-3BBE-14A8-AF9E12837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83357-3B18-47EC-9D9E-A0D017771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BF398-C807-788F-E43B-ADAEF059E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6FE8F-D8F1-794B-1940-743F22D2F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2104-D140-4FF9-8B4A-3D21EC4BAFE9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1336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2104-D140-4FF9-8B4A-3D21EC4BAFE9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37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01C90-2935-18D8-C423-74B21E0F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1C865-FF56-2BCC-DED2-402104BFB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AE7D5-200C-EB56-1038-BA8BAE2E1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FBB41-4BF5-C98D-03D1-002BE511D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2104-D140-4FF9-8B4A-3D21EC4BAFE9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7274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2104-D140-4FF9-8B4A-3D21EC4BAFE9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700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46B0-DB68-8D69-CB72-2E1C7DFDC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62C49-B5C3-DB11-57C6-22510257E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AC75A-8920-3DE8-2C5E-22A2FE3E5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5AB4-1CCC-4B43-A293-D1CEE3DDB966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566F0-2083-7BED-A46A-DAADFA58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422C2-C843-2102-3A02-99271F9B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8D7C-D3FD-4290-9D02-953C58B106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247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8E103-A98F-557F-E1CB-24C59C19A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31563-9859-F716-3EFC-9A347F145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8DD69-2025-0390-7D7F-3EE2A042C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5AB4-1CCC-4B43-A293-D1CEE3DDB966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BDAF7-C559-EF57-D637-F16A2640E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653BB-52FE-7711-46E3-1265A741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8D7C-D3FD-4290-9D02-953C58B106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173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E8519-85C2-7D5E-7BD7-362C8B1D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4336C-75FE-33A9-622E-D3827766B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7F2B0-4BF2-0646-12E0-DBF9BA05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5AB4-1CCC-4B43-A293-D1CEE3DDB966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3339E-B1D6-4AA4-F4BD-6BBF62681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66761-D6B6-8218-AA1B-5077B967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8D7C-D3FD-4290-9D02-953C58B106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07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FC75-D997-D8F6-1967-DF9231F68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80FAE-D004-8490-CBC5-0D3368B62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8C0BE-1328-8DF6-3E43-DA9199F75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793FB-E7F5-39BA-78A1-C63D560C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5AB4-1CCC-4B43-A293-D1CEE3DDB966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01FD1-E815-3FEE-88A4-693008E5E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DE0FF-7CFB-73D2-1388-5CB837F2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8D7C-D3FD-4290-9D02-953C58B106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0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1E77A-3D5C-0C70-A181-3959ACC2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2BB4C-7E00-EA04-B4C6-E327E4B6B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D56E1-198C-38D7-1961-80AB892E6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BF768-EBA0-BE17-D317-7FE7E41EA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953E3-B738-CD26-3300-139CFBE79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1BFD7F-F5C1-F3CE-95FC-5120ADFF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5AB4-1CCC-4B43-A293-D1CEE3DDB966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90C7E2-6B21-F0F1-6996-3DD24BED0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6A8AEC-903D-0075-B60F-40D1B431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8D7C-D3FD-4290-9D02-953C58B106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266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FAD86-F5F1-7137-EA55-8D38D348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95E60-5ED9-1195-C530-19086AAAF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5AB4-1CCC-4B43-A293-D1CEE3DDB966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E1A1B-0955-CC48-746B-27892987A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30C2C-2A31-6074-50F0-EDE7888BA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8D7C-D3FD-4290-9D02-953C58B106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00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030CE6-EE86-D1C2-84B8-E25136D1C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5AB4-1CCC-4B43-A293-D1CEE3DDB966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B2901-0971-76B1-B2BF-7BD1B050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7EB76-CE77-F74E-525D-743440A0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8D7C-D3FD-4290-9D02-953C58B106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44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83AA-C1AD-822F-6838-75EDFB4F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E95E9-F8D8-3A21-040C-6BD693FE4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A90F6-0486-BD78-7C27-D0D692311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12E2C-3E88-FA11-FCE2-38EC564A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5AB4-1CCC-4B43-A293-D1CEE3DDB966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5C852-0446-E1ED-2645-F0EA1598C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8B794-20DD-9084-F9DA-1D8FF22D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8D7C-D3FD-4290-9D02-953C58B106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19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A498-F813-4DB5-408B-18177E4FF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CD8D55-2D2D-98C5-93C9-037200A5F3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F1F43-BDCD-5D56-AFD8-9B6F173D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672F-D003-36C8-E6AE-87E5801EA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5AB4-1CCC-4B43-A293-D1CEE3DDB966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FDAF0-96BC-5A2B-A8CD-2AA42DE55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A7E12-BC9E-D29E-C785-96D095D8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8D7C-D3FD-4290-9D02-953C58B106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83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E07-D991-3E36-CFCE-2771A37C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D8143-A64B-A4AE-42FD-7A9C88928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BEC6-EA00-C70D-EC28-C5B643991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5AB4-1CCC-4B43-A293-D1CEE3DDB966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D3882-A084-6E05-0FB6-C3FB672F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60221-1D7F-6925-A809-646B0667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8D7C-D3FD-4290-9D02-953C58B106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51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A98939-2019-5262-125C-DB501A93D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BADEA5-520E-395C-3827-C2E5BD9D9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ACDF3-0CDA-A750-7963-81408F30E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5AB4-1CCC-4B43-A293-D1CEE3DDB966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D8447-CF9C-60DE-E788-9E91C5F21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4144A-36CA-9927-C3BD-787227DC8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8D7C-D3FD-4290-9D02-953C58B106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745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93632-D49F-EEA6-C86C-92DA2C4CB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E94A7-11D6-F463-030B-305C3A69E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EF9E7-BC3E-D624-40D7-56FA25571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나눔스퀘어_ac Light" panose="020B0600000101010101" pitchFamily="50" charset="-127"/>
              </a:defRPr>
            </a:lvl1pPr>
          </a:lstStyle>
          <a:p>
            <a:fld id="{3CEF5AB4-1CCC-4B43-A293-D1CEE3DDB966}" type="datetimeFigureOut">
              <a:rPr lang="en-GB" smtClean="0"/>
              <a:pPr/>
              <a:t>04/03/2026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EE74D-98C8-C99A-439E-7F43A5432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나눔스퀘어_ac Light" panose="020B0600000101010101" pitchFamily="50" charset="-127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988CF-F462-7687-50D9-800593067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나눔스퀘어_ac Light" panose="020B0600000101010101" pitchFamily="50" charset="-127"/>
              </a:defRPr>
            </a:lvl1pPr>
          </a:lstStyle>
          <a:p>
            <a:fld id="{CB008D7C-D3FD-4290-9D02-953C58B1069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815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_ac Light" panose="020B0600000101010101" pitchFamily="50" charset="-12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_ac Light" panose="020B0600000101010101" pitchFamily="50" charset="-12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_ac Light" panose="020B0600000101010101" pitchFamily="50" charset="-12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_ac Light" panose="020B0600000101010101" pitchFamily="50" charset="-12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_ac Light" panose="020B0600000101010101" pitchFamily="50" charset="-12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_ac Light" panose="020B0600000101010101" pitchFamily="50" charset="-12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D4F2A-5075-3A9B-7224-AF85C239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725" y="611327"/>
            <a:ext cx="4559826" cy="2342949"/>
          </a:xfrm>
        </p:spPr>
        <p:txBody>
          <a:bodyPr>
            <a:noAutofit/>
          </a:bodyPr>
          <a:lstStyle/>
          <a:p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Hahmlet Black" pitchFamily="2" charset="-127"/>
              </a:rPr>
              <a:t>Case Study 2</a:t>
            </a:r>
            <a:br>
              <a:rPr lang="en-GB" sz="5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Hahmlet Black" pitchFamily="2" charset="-127"/>
              </a:rPr>
            </a:br>
            <a:r>
              <a:rPr lang="en-GB" sz="54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Hahmlet Black" pitchFamily="2" charset="-127"/>
              </a:rPr>
              <a:t>             </a:t>
            </a:r>
            <a:r>
              <a:rPr lang="en-GB" sz="4000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Hahmlet Black" pitchFamily="2" charset="-127"/>
              </a:rPr>
              <a:t>4012BIO</a:t>
            </a:r>
            <a:endParaRPr lang="en-GB" sz="54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Hahmlet Black" pitchFamily="2" charset="-12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67D489-6DF8-BBEB-921A-F69967F3F977}"/>
              </a:ext>
            </a:extLst>
          </p:cNvPr>
          <p:cNvSpPr txBox="1">
            <a:spLocks/>
          </p:cNvSpPr>
          <p:nvPr/>
        </p:nvSpPr>
        <p:spPr>
          <a:xfrm>
            <a:off x="8006574" y="5084956"/>
            <a:ext cx="3914729" cy="14731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Jiyoon Song</a:t>
            </a:r>
          </a:p>
          <a:p>
            <a:pPr algn="r">
              <a:lnSpc>
                <a:spcPct val="150000"/>
              </a:lnSpc>
            </a:pPr>
            <a:r>
              <a:rPr lang="en-GB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Student ID: 15389583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4FEF1C1-68DC-C6E2-6189-93FB7581E97E}"/>
              </a:ext>
            </a:extLst>
          </p:cNvPr>
          <p:cNvCxnSpPr>
            <a:cxnSpLocks/>
          </p:cNvCxnSpPr>
          <p:nvPr/>
        </p:nvCxnSpPr>
        <p:spPr>
          <a:xfrm>
            <a:off x="0" y="1671965"/>
            <a:ext cx="526337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0E52F7-9E69-509E-77FF-B4228A80C58D}"/>
              </a:ext>
            </a:extLst>
          </p:cNvPr>
          <p:cNvCxnSpPr>
            <a:cxnSpLocks/>
          </p:cNvCxnSpPr>
          <p:nvPr/>
        </p:nvCxnSpPr>
        <p:spPr>
          <a:xfrm>
            <a:off x="6363630" y="6017223"/>
            <a:ext cx="5828370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54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3"/>
    </mc:Choice>
    <mc:Fallback xmlns="">
      <p:transition spd="slow" advTm="52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66327-C0F0-8BA8-708E-F275224BE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F2D7-3C20-1429-3E81-381584D6F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153" y="745930"/>
            <a:ext cx="2827206" cy="1325563"/>
          </a:xfrm>
        </p:spPr>
        <p:txBody>
          <a:bodyPr/>
          <a:lstStyle/>
          <a:p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Contents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6C57F3-3832-3637-B1BA-5B3AC5A10685}"/>
              </a:ext>
            </a:extLst>
          </p:cNvPr>
          <p:cNvSpPr txBox="1">
            <a:spLocks/>
          </p:cNvSpPr>
          <p:nvPr/>
        </p:nvSpPr>
        <p:spPr>
          <a:xfrm>
            <a:off x="2043719" y="1671965"/>
            <a:ext cx="8301008" cy="4351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나눔스퀘어_ac Light" panose="020B0600000101010101" pitchFamily="50" charset="-127"/>
              <a:buChar char="­"/>
            </a:pPr>
            <a:r>
              <a:rPr lang="en-GB" sz="3200" dirty="0"/>
              <a:t>Genetic Pedigree</a:t>
            </a:r>
          </a:p>
          <a:p>
            <a:pPr marL="457200" indent="-457200">
              <a:lnSpc>
                <a:spcPct val="150000"/>
              </a:lnSpc>
              <a:buFont typeface="나눔스퀘어_ac Light" panose="020B0600000101010101" pitchFamily="50" charset="-127"/>
              <a:buChar char="­"/>
            </a:pPr>
            <a:r>
              <a:rPr lang="en-GB" sz="3200" dirty="0"/>
              <a:t>Mode of Inheritance &amp; Evidence</a:t>
            </a:r>
          </a:p>
          <a:p>
            <a:pPr marL="457200" indent="-457200">
              <a:lnSpc>
                <a:spcPct val="150000"/>
              </a:lnSpc>
              <a:buFont typeface="나눔스퀘어_ac Light" panose="020B0600000101010101" pitchFamily="50" charset="-127"/>
              <a:buChar char="­"/>
            </a:pPr>
            <a:r>
              <a:rPr lang="en-GB" sz="3200" dirty="0"/>
              <a:t>Prediction of the Risk of the Disease</a:t>
            </a:r>
          </a:p>
          <a:p>
            <a:pPr marL="457200" indent="-457200">
              <a:lnSpc>
                <a:spcPct val="150000"/>
              </a:lnSpc>
              <a:buFont typeface="나눔스퀘어_ac Light" panose="020B0600000101010101" pitchFamily="50" charset="-127"/>
              <a:buChar char="­"/>
            </a:pPr>
            <a:r>
              <a:rPr lang="en-GB" sz="3200" dirty="0"/>
              <a:t>Possible Diseases</a:t>
            </a:r>
          </a:p>
          <a:p>
            <a:pPr marL="457200" indent="-457200">
              <a:lnSpc>
                <a:spcPct val="150000"/>
              </a:lnSpc>
              <a:buFont typeface="나눔스퀘어_ac Light" panose="020B0600000101010101" pitchFamily="50" charset="-127"/>
              <a:buChar char="­"/>
            </a:pPr>
            <a:r>
              <a:rPr lang="en-GB" sz="3200" dirty="0"/>
              <a:t>References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4DC394-F0A6-62A1-234F-D8A34D014A90}"/>
              </a:ext>
            </a:extLst>
          </p:cNvPr>
          <p:cNvCxnSpPr>
            <a:cxnSpLocks/>
          </p:cNvCxnSpPr>
          <p:nvPr/>
        </p:nvCxnSpPr>
        <p:spPr>
          <a:xfrm>
            <a:off x="0" y="1671965"/>
            <a:ext cx="526337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35AB14-B806-98D6-FCFB-94F5D960FCDC}"/>
              </a:ext>
            </a:extLst>
          </p:cNvPr>
          <p:cNvCxnSpPr>
            <a:cxnSpLocks/>
          </p:cNvCxnSpPr>
          <p:nvPr/>
        </p:nvCxnSpPr>
        <p:spPr>
          <a:xfrm>
            <a:off x="3666728" y="1804038"/>
            <a:ext cx="2190062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82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62"/>
    </mc:Choice>
    <mc:Fallback xmlns="">
      <p:transition spd="slow" advTm="1356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9E6CF-6D34-4F38-A349-FB6B05EF6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1C05A-FAE4-054E-D710-4FA481650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552" y="654291"/>
            <a:ext cx="4648200" cy="1325563"/>
          </a:xfrm>
        </p:spPr>
        <p:txBody>
          <a:bodyPr/>
          <a:lstStyle/>
          <a:p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Genetic Pedigree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82F10F5-21CA-64CB-3ED7-99B6AA0D845B}"/>
              </a:ext>
            </a:extLst>
          </p:cNvPr>
          <p:cNvGrpSpPr/>
          <p:nvPr/>
        </p:nvGrpSpPr>
        <p:grpSpPr>
          <a:xfrm>
            <a:off x="2319822" y="1979854"/>
            <a:ext cx="6955005" cy="3971726"/>
            <a:chOff x="2319822" y="1979854"/>
            <a:chExt cx="6955005" cy="397172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29EA8E9-55DF-AAE3-E062-D7AD12C5B4EC}"/>
                </a:ext>
              </a:extLst>
            </p:cNvPr>
            <p:cNvCxnSpPr>
              <a:cxnSpLocks/>
              <a:stCxn id="7" idx="3"/>
              <a:endCxn id="8" idx="2"/>
            </p:cNvCxnSpPr>
            <p:nvPr/>
          </p:nvCxnSpPr>
          <p:spPr>
            <a:xfrm>
              <a:off x="4337501" y="2383837"/>
              <a:ext cx="46250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7A51D2B-13C1-371E-367E-9CAEEA996420}"/>
                </a:ext>
              </a:extLst>
            </p:cNvPr>
            <p:cNvGrpSpPr/>
            <p:nvPr/>
          </p:nvGrpSpPr>
          <p:grpSpPr>
            <a:xfrm>
              <a:off x="2319822" y="1979854"/>
              <a:ext cx="6955005" cy="3971726"/>
              <a:chOff x="1098537" y="1728581"/>
              <a:chExt cx="6955005" cy="3971726"/>
            </a:xfrm>
          </p:grpSpPr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1236F3A1-9C24-1F6F-2468-7871465A5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9476" y="1728581"/>
                <a:ext cx="271488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</a:t>
                </a:r>
              </a:p>
            </p:txBody>
          </p:sp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2199005F-92DD-8C6A-D238-903B78CD15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7976" y="3851327"/>
                <a:ext cx="515566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III</a:t>
                </a:r>
              </a:p>
            </p:txBody>
          </p:sp>
          <p:sp>
            <p:nvSpPr>
              <p:cNvPr id="27" name="Title 1">
                <a:extLst>
                  <a:ext uri="{FF2B5EF4-FFF2-40B4-BE49-F238E27FC236}">
                    <a16:creationId xmlns:a16="http://schemas.microsoft.com/office/drawing/2014/main" id="{EBEEA1BE-C427-6224-D10A-D0755AB7C3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7976" y="4901896"/>
                <a:ext cx="515566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IV</a:t>
                </a:r>
              </a:p>
            </p:txBody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04DBC52D-01BF-4111-B160-44D0A5AFF65B}"/>
                  </a:ext>
                </a:extLst>
              </p:cNvPr>
              <p:cNvGrpSpPr/>
              <p:nvPr/>
            </p:nvGrpSpPr>
            <p:grpSpPr>
              <a:xfrm>
                <a:off x="1098537" y="1928885"/>
                <a:ext cx="6763033" cy="3575897"/>
                <a:chOff x="1098537" y="1928885"/>
                <a:chExt cx="6763033" cy="3575897"/>
              </a:xfrm>
            </p:grpSpPr>
            <p:sp>
              <p:nvSpPr>
                <p:cNvPr id="25" name="Title 1">
                  <a:extLst>
                    <a:ext uri="{FF2B5EF4-FFF2-40B4-BE49-F238E27FC236}">
                      <a16:creationId xmlns:a16="http://schemas.microsoft.com/office/drawing/2014/main" id="{CC7D16F8-16C1-ED29-BEA7-71169F24528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549887" y="2749560"/>
                  <a:ext cx="311683" cy="79841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r>
                    <a:rPr lang="en-GB" sz="2000" dirty="0">
                      <a:latin typeface="나눔스퀘어_ac Light" panose="020B0600000101010101" pitchFamily="50" charset="-127"/>
                    </a:rPr>
                    <a:t>II</a:t>
                  </a:r>
                </a:p>
              </p:txBody>
            </p:sp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A1815642-5935-3528-985E-3590E2B45431}"/>
                    </a:ext>
                  </a:extLst>
                </p:cNvPr>
                <p:cNvGrpSpPr/>
                <p:nvPr/>
              </p:nvGrpSpPr>
              <p:grpSpPr>
                <a:xfrm>
                  <a:off x="1098537" y="1928885"/>
                  <a:ext cx="5722393" cy="3575897"/>
                  <a:chOff x="1246818" y="1821336"/>
                  <a:chExt cx="7242443" cy="4525770"/>
                </a:xfrm>
              </p:grpSpPr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B73E7A9D-CB55-E40A-59B9-FDCE2B01A5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67318" y="3928706"/>
                    <a:ext cx="156964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5" name="Group 94">
                    <a:extLst>
                      <a:ext uri="{FF2B5EF4-FFF2-40B4-BE49-F238E27FC236}">
                        <a16:creationId xmlns:a16="http://schemas.microsoft.com/office/drawing/2014/main" id="{020C7D4F-9739-AF9F-93C9-50B54BAFE2EF}"/>
                      </a:ext>
                    </a:extLst>
                  </p:cNvPr>
                  <p:cNvGrpSpPr/>
                  <p:nvPr/>
                </p:nvGrpSpPr>
                <p:grpSpPr>
                  <a:xfrm>
                    <a:off x="1246818" y="1821336"/>
                    <a:ext cx="7242443" cy="4525770"/>
                    <a:chOff x="1246818" y="1821336"/>
                    <a:chExt cx="7242443" cy="4525770"/>
                  </a:xfrm>
                </p:grpSpPr>
                <p:cxnSp>
                  <p:nvCxnSpPr>
                    <p:cNvPr id="59" name="Straight Connector 58">
                      <a:extLst>
                        <a:ext uri="{FF2B5EF4-FFF2-40B4-BE49-F238E27FC236}">
                          <a16:creationId xmlns:a16="http://schemas.microsoft.com/office/drawing/2014/main" id="{F90FD7DF-CAF7-D9F3-B57B-9E24D9ECC87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26866" y="4718282"/>
                      <a:ext cx="1794817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94" name="Group 93">
                      <a:extLst>
                        <a:ext uri="{FF2B5EF4-FFF2-40B4-BE49-F238E27FC236}">
                          <a16:creationId xmlns:a16="http://schemas.microsoft.com/office/drawing/2014/main" id="{81548048-7ED9-BA45-B82E-61A4FAAD978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46818" y="1821336"/>
                      <a:ext cx="7242443" cy="4525770"/>
                      <a:chOff x="1246818" y="1821336"/>
                      <a:chExt cx="7242443" cy="4525770"/>
                    </a:xfrm>
                  </p:grpSpPr>
                  <p:sp>
                    <p:nvSpPr>
                      <p:cNvPr id="13" name="Rectangle 12">
                        <a:extLst>
                          <a:ext uri="{FF2B5EF4-FFF2-40B4-BE49-F238E27FC236}">
                            <a16:creationId xmlns:a16="http://schemas.microsoft.com/office/drawing/2014/main" id="{72D22D4B-352C-19DB-B4A6-44725E68F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02494" y="4442599"/>
                        <a:ext cx="515564" cy="515810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15" name="Oval 14">
                        <a:extLst>
                          <a:ext uri="{FF2B5EF4-FFF2-40B4-BE49-F238E27FC236}">
                            <a16:creationId xmlns:a16="http://schemas.microsoft.com/office/drawing/2014/main" id="{59F0C518-C46B-F9BD-3C15-7110C9E846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91615" y="4439083"/>
                        <a:ext cx="515566" cy="51556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16" name="Rectangle 15">
                        <a:extLst>
                          <a:ext uri="{FF2B5EF4-FFF2-40B4-BE49-F238E27FC236}">
                            <a16:creationId xmlns:a16="http://schemas.microsoft.com/office/drawing/2014/main" id="{A6224449-128C-D8F0-D8EC-373F0DB0AB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057" y="4439083"/>
                        <a:ext cx="515566" cy="515566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18" name="Oval 17">
                        <a:extLst>
                          <a:ext uri="{FF2B5EF4-FFF2-40B4-BE49-F238E27FC236}">
                            <a16:creationId xmlns:a16="http://schemas.microsoft.com/office/drawing/2014/main" id="{B34B95FA-A238-79AB-5242-E4E8DE8D7F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24440" y="4460499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19" name="Oval 18">
                        <a:extLst>
                          <a:ext uri="{FF2B5EF4-FFF2-40B4-BE49-F238E27FC236}">
                            <a16:creationId xmlns:a16="http://schemas.microsoft.com/office/drawing/2014/main" id="{E8D16648-5DCC-8E36-A12B-D91729C7B1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02405" y="4466626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20" name="Rectangle 19">
                        <a:extLst>
                          <a:ext uri="{FF2B5EF4-FFF2-40B4-BE49-F238E27FC236}">
                            <a16:creationId xmlns:a16="http://schemas.microsoft.com/office/drawing/2014/main" id="{322AE9F9-C592-6E11-804F-C2BB90351D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73695" y="4453440"/>
                        <a:ext cx="515566" cy="51556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21" name="Oval 20">
                        <a:extLst>
                          <a:ext uri="{FF2B5EF4-FFF2-40B4-BE49-F238E27FC236}">
                            <a16:creationId xmlns:a16="http://schemas.microsoft.com/office/drawing/2014/main" id="{CDDE2417-7E4E-CFA8-8AAB-C62A992F68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3102" y="5815782"/>
                        <a:ext cx="515566" cy="51556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22" name="Oval 21">
                        <a:extLst>
                          <a:ext uri="{FF2B5EF4-FFF2-40B4-BE49-F238E27FC236}">
                            <a16:creationId xmlns:a16="http://schemas.microsoft.com/office/drawing/2014/main" id="{C728CBB4-360E-CAEA-54A6-F9B475586A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3439" y="5831540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cxnSp>
                    <p:nvCxnSpPr>
                      <p:cNvPr id="36" name="Straight Connector 35">
                        <a:extLst>
                          <a:ext uri="{FF2B5EF4-FFF2-40B4-BE49-F238E27FC236}">
                            <a16:creationId xmlns:a16="http://schemas.microsoft.com/office/drawing/2014/main" id="{7E28C67F-7E84-AC01-C37A-B19F9FB15B8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054969" y="3373147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" name="Straight Connector 36">
                        <a:extLst>
                          <a:ext uri="{FF2B5EF4-FFF2-40B4-BE49-F238E27FC236}">
                            <a16:creationId xmlns:a16="http://schemas.microsoft.com/office/drawing/2014/main" id="{418D725F-6BD7-AD46-44C6-C3111D6F9A6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556366" y="3904471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" name="Straight Connector 38">
                        <a:extLst>
                          <a:ext uri="{FF2B5EF4-FFF2-40B4-BE49-F238E27FC236}">
                            <a16:creationId xmlns:a16="http://schemas.microsoft.com/office/drawing/2014/main" id="{385774F8-B6E0-FEC0-DECF-C9717CFBB41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90481" y="3904471"/>
                        <a:ext cx="956554" cy="680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Straight Connector 39">
                        <a:extLst>
                          <a:ext uri="{FF2B5EF4-FFF2-40B4-BE49-F238E27FC236}">
                            <a16:creationId xmlns:a16="http://schemas.microsoft.com/office/drawing/2014/main" id="{E7D9571B-EB31-2D9B-D345-B2BE9F03E1A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968640" y="3379023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" name="Straight Connector 46">
                        <a:extLst>
                          <a:ext uri="{FF2B5EF4-FFF2-40B4-BE49-F238E27FC236}">
                            <a16:creationId xmlns:a16="http://schemas.microsoft.com/office/drawing/2014/main" id="{B2F25D54-EAB5-D416-7445-DA4F95020EF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549398" y="3907759"/>
                        <a:ext cx="82244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" name="Straight Connector 47">
                        <a:extLst>
                          <a:ext uri="{FF2B5EF4-FFF2-40B4-BE49-F238E27FC236}">
                            <a16:creationId xmlns:a16="http://schemas.microsoft.com/office/drawing/2014/main" id="{8D65B271-16DA-59FE-EB7A-B63D869A64D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549398" y="3907759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9" name="Straight Connector 48">
                        <a:extLst>
                          <a:ext uri="{FF2B5EF4-FFF2-40B4-BE49-F238E27FC236}">
                            <a16:creationId xmlns:a16="http://schemas.microsoft.com/office/drawing/2014/main" id="{39985A79-F301-EF24-A312-076A25773F8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374620" y="3900763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" name="Straight Connector 54">
                        <a:extLst>
                          <a:ext uri="{FF2B5EF4-FFF2-40B4-BE49-F238E27FC236}">
                            <a16:creationId xmlns:a16="http://schemas.microsoft.com/office/drawing/2014/main" id="{ABC3B22F-2187-D0DE-488C-C2C8DFE4244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674342" y="3926512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6" name="Straight Connector 55">
                        <a:extLst>
                          <a:ext uri="{FF2B5EF4-FFF2-40B4-BE49-F238E27FC236}">
                            <a16:creationId xmlns:a16="http://schemas.microsoft.com/office/drawing/2014/main" id="{96F25D34-A185-8248-1E5B-8D99BA6C5A0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452139" y="3935878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7" name="Straight Connector 56">
                        <a:extLst>
                          <a:ext uri="{FF2B5EF4-FFF2-40B4-BE49-F238E27FC236}">
                            <a16:creationId xmlns:a16="http://schemas.microsoft.com/office/drawing/2014/main" id="{B2282248-75B7-510B-F5C2-EE90BC65FD2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234377" y="3935302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Straight Connector 61">
                        <a:extLst>
                          <a:ext uri="{FF2B5EF4-FFF2-40B4-BE49-F238E27FC236}">
                            <a16:creationId xmlns:a16="http://schemas.microsoft.com/office/drawing/2014/main" id="{35B927DD-652A-5777-8E59-453C714B3AC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629623" y="4758907"/>
                        <a:ext cx="1807106" cy="624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Straight Connector 70">
                        <a:extLst>
                          <a:ext uri="{FF2B5EF4-FFF2-40B4-BE49-F238E27FC236}">
                            <a16:creationId xmlns:a16="http://schemas.microsoft.com/office/drawing/2014/main" id="{836F758C-C5C4-99CC-6FDA-6942E05DD88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581054" y="4765351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" name="Straight Connector 71">
                        <a:extLst>
                          <a:ext uri="{FF2B5EF4-FFF2-40B4-BE49-F238E27FC236}">
                            <a16:creationId xmlns:a16="http://schemas.microsoft.com/office/drawing/2014/main" id="{2BAC7172-337F-F61F-9294-C47D366DA62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91222" y="5296675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Straight Connector 72">
                        <a:extLst>
                          <a:ext uri="{FF2B5EF4-FFF2-40B4-BE49-F238E27FC236}">
                            <a16:creationId xmlns:a16="http://schemas.microsoft.com/office/drawing/2014/main" id="{4198E0D4-1FDE-83D3-F5EE-39FA01DEC1C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84078" y="5296675"/>
                        <a:ext cx="1193951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" name="Straight Connector 73">
                        <a:extLst>
                          <a:ext uri="{FF2B5EF4-FFF2-40B4-BE49-F238E27FC236}">
                            <a16:creationId xmlns:a16="http://schemas.microsoft.com/office/drawing/2014/main" id="{EEBC10A8-4050-0697-09F5-0DEEB009864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179850" y="5298496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" name="Straight Connector 28">
                        <a:extLst>
                          <a:ext uri="{FF2B5EF4-FFF2-40B4-BE49-F238E27FC236}">
                            <a16:creationId xmlns:a16="http://schemas.microsoft.com/office/drawing/2014/main" id="{DAF1CD68-B2B3-E861-2A18-E1134FB1369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99812" y="3911275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1" name="Rectangle 30">
                        <a:extLst>
                          <a:ext uri="{FF2B5EF4-FFF2-40B4-BE49-F238E27FC236}">
                            <a16:creationId xmlns:a16="http://schemas.microsoft.com/office/drawing/2014/main" id="{485DCACD-A8D0-7458-6E59-821530FF29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54934" y="4442843"/>
                        <a:ext cx="515566" cy="515566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grpSp>
                    <p:nvGrpSpPr>
                      <p:cNvPr id="93" name="Group 92">
                        <a:extLst>
                          <a:ext uri="{FF2B5EF4-FFF2-40B4-BE49-F238E27FC236}">
                            <a16:creationId xmlns:a16="http://schemas.microsoft.com/office/drawing/2014/main" id="{8C23CBB9-5252-59ED-D427-28A88665949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46818" y="1821336"/>
                        <a:ext cx="7129263" cy="2106004"/>
                        <a:chOff x="1246818" y="1821336"/>
                        <a:chExt cx="7129263" cy="2106004"/>
                      </a:xfrm>
                    </p:grpSpPr>
                    <p:sp>
                      <p:nvSpPr>
                        <p:cNvPr id="9" name="Oval 8">
                          <a:extLst>
                            <a:ext uri="{FF2B5EF4-FFF2-40B4-BE49-F238E27FC236}">
                              <a16:creationId xmlns:a16="http://schemas.microsoft.com/office/drawing/2014/main" id="{1A0A86BE-57FA-6DE0-0596-6DEEBB7DF7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47750" y="3152703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" name="Oval 9">
                          <a:extLst>
                            <a:ext uri="{FF2B5EF4-FFF2-40B4-BE49-F238E27FC236}">
                              <a16:creationId xmlns:a16="http://schemas.microsoft.com/office/drawing/2014/main" id="{ECB56DF0-B94F-C152-6ACA-0EBA365D929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60068" y="3145728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  <a:latin typeface="나눔스퀘어_ac Light" panose="020B0600000101010101" pitchFamily="50" charset="-127"/>
                            </a:rPr>
                            <a:t>B</a:t>
                          </a:r>
                        </a:p>
                      </p:txBody>
                    </p:sp>
                    <p:sp>
                      <p:nvSpPr>
                        <p:cNvPr id="11" name="Oval 10">
                          <a:extLst>
                            <a:ext uri="{FF2B5EF4-FFF2-40B4-BE49-F238E27FC236}">
                              <a16:creationId xmlns:a16="http://schemas.microsoft.com/office/drawing/2014/main" id="{C391FC0F-2204-8D41-CC40-C6994BEB5C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30694" y="3144170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2" name="Rectangle 11">
                          <a:extLst>
                            <a:ext uri="{FF2B5EF4-FFF2-40B4-BE49-F238E27FC236}">
                              <a16:creationId xmlns:a16="http://schemas.microsoft.com/office/drawing/2014/main" id="{BA2A1F69-2F92-5EFA-DF61-FD0AF1FC33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46818" y="3165416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4" name="Oval 13">
                          <a:extLst>
                            <a:ext uri="{FF2B5EF4-FFF2-40B4-BE49-F238E27FC236}">
                              <a16:creationId xmlns:a16="http://schemas.microsoft.com/office/drawing/2014/main" id="{0CBA4057-FD2C-2FD8-F4A3-6BFCC4C9FE5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32754" y="3130437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7" name="Rectangle 16">
                          <a:extLst>
                            <a:ext uri="{FF2B5EF4-FFF2-40B4-BE49-F238E27FC236}">
                              <a16:creationId xmlns:a16="http://schemas.microsoft.com/office/drawing/2014/main" id="{192184C3-E76A-FB73-CA96-EB9B3087C2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860515" y="3139001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cxnSp>
                      <p:nvCxnSpPr>
                        <p:cNvPr id="30" name="Straight Connector 29">
                          <a:extLst>
                            <a:ext uri="{FF2B5EF4-FFF2-40B4-BE49-F238E27FC236}">
                              <a16:creationId xmlns:a16="http://schemas.microsoft.com/office/drawing/2014/main" id="{5CC60C1B-25B8-D769-A4CD-CACAB670989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584169" y="2604397"/>
                          <a:ext cx="4438980" cy="734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92" name="Group 91">
                          <a:extLst>
                            <a:ext uri="{FF2B5EF4-FFF2-40B4-BE49-F238E27FC236}">
                              <a16:creationId xmlns:a16="http://schemas.microsoft.com/office/drawing/2014/main" id="{5D188649-7F25-CFBF-580D-26087DFEB9E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284890" y="1821336"/>
                          <a:ext cx="1616498" cy="783061"/>
                          <a:chOff x="3284890" y="1821336"/>
                          <a:chExt cx="1616498" cy="783061"/>
                        </a:xfrm>
                      </p:grpSpPr>
                      <p:sp>
                        <p:nvSpPr>
                          <p:cNvPr id="7" name="Rectangle 6">
                            <a:extLst>
                              <a:ext uri="{FF2B5EF4-FFF2-40B4-BE49-F238E27FC236}">
                                <a16:creationId xmlns:a16="http://schemas.microsoft.com/office/drawing/2014/main" id="{16014B4E-F071-39AC-E883-7F8990F290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284890" y="1821336"/>
                            <a:ext cx="515566" cy="515566"/>
                          </a:xfrm>
                          <a:prstGeom prst="rect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dirty="0">
                              <a:latin typeface="나눔스퀘어_ac Light" panose="020B0600000101010101" pitchFamily="50" charset="-127"/>
                            </a:endParaRPr>
                          </a:p>
                        </p:txBody>
                      </p:sp>
                      <p:sp>
                        <p:nvSpPr>
                          <p:cNvPr id="8" name="Oval 7">
                            <a:extLst>
                              <a:ext uri="{FF2B5EF4-FFF2-40B4-BE49-F238E27FC236}">
                                <a16:creationId xmlns:a16="http://schemas.microsoft.com/office/drawing/2014/main" id="{2EF8435D-CC5B-937C-1ECB-09D46258087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385822" y="1821336"/>
                            <a:ext cx="515566" cy="515566"/>
                          </a:xfrm>
                          <a:prstGeom prst="ellipse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dirty="0">
                              <a:latin typeface="나눔스퀘어_ac Light" panose="020B0600000101010101" pitchFamily="50" charset="-127"/>
                            </a:endParaRPr>
                          </a:p>
                        </p:txBody>
                      </p:sp>
                      <p:cxnSp>
                        <p:nvCxnSpPr>
                          <p:cNvPr id="32" name="Straight Connector 31">
                            <a:extLst>
                              <a:ext uri="{FF2B5EF4-FFF2-40B4-BE49-F238E27FC236}">
                                <a16:creationId xmlns:a16="http://schemas.microsoft.com/office/drawing/2014/main" id="{D4D4E07B-2653-2359-263D-0DF2D0FF1B0D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108496" y="2073073"/>
                            <a:ext cx="0" cy="531324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35" name="Straight Connector 34">
                          <a:extLst>
                            <a:ext uri="{FF2B5EF4-FFF2-40B4-BE49-F238E27FC236}">
                              <a16:creationId xmlns:a16="http://schemas.microsoft.com/office/drawing/2014/main" id="{CEC1223A-A251-7C98-8243-9EEA83B219F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593673" y="2611741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8" name="Straight Connector 37">
                          <a:extLst>
                            <a:ext uri="{FF2B5EF4-FFF2-40B4-BE49-F238E27FC236}">
                              <a16:creationId xmlns:a16="http://schemas.microsoft.com/office/drawing/2014/main" id="{ACAF146D-2BEB-9974-B18A-07C3D482875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198729" y="2605808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1" name="Straight Connector 40">
                          <a:extLst>
                            <a:ext uri="{FF2B5EF4-FFF2-40B4-BE49-F238E27FC236}">
                              <a16:creationId xmlns:a16="http://schemas.microsoft.com/office/drawing/2014/main" id="{976C5B84-61DA-D93A-0735-2D1387BEFFC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023149" y="2605395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6" name="Straight Connector 45">
                          <a:extLst>
                            <a:ext uri="{FF2B5EF4-FFF2-40B4-BE49-F238E27FC236}">
                              <a16:creationId xmlns:a16="http://schemas.microsoft.com/office/drawing/2014/main" id="{A0C8FFB1-769E-6D4E-3B74-D6542C6C9F0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279083" y="3404373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3" name="Straight Connector 52">
                          <a:extLst>
                            <a:ext uri="{FF2B5EF4-FFF2-40B4-BE49-F238E27FC236}">
                              <a16:creationId xmlns:a16="http://schemas.microsoft.com/office/drawing/2014/main" id="{0D4D70B8-51E8-03B0-C7AE-CB87B2ED5AE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576309" y="3396016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4" name="Straight Connector 23">
                          <a:extLst>
                            <a:ext uri="{FF2B5EF4-FFF2-40B4-BE49-F238E27FC236}">
                              <a16:creationId xmlns:a16="http://schemas.microsoft.com/office/drawing/2014/main" id="{5A36E5E6-474C-ADDC-F027-FFC72406274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759872" y="3365256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42" name="Rectangle 41">
                          <a:extLst>
                            <a:ext uri="{FF2B5EF4-FFF2-40B4-BE49-F238E27FC236}">
                              <a16:creationId xmlns:a16="http://schemas.microsoft.com/office/drawing/2014/main" id="{E8A8C4C2-96ED-2D2B-A971-13517C24AF6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129769" y="3156146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  <a:latin typeface="나눔스퀘어_ac Light" panose="020B0600000101010101" pitchFamily="50" charset="-127"/>
                            </a:rPr>
                            <a:t>A</a:t>
                          </a:r>
                        </a:p>
                      </p:txBody>
                    </p:sp>
                    <p:cxnSp>
                      <p:nvCxnSpPr>
                        <p:cNvPr id="44" name="Straight Connector 43">
                          <a:extLst>
                            <a:ext uri="{FF2B5EF4-FFF2-40B4-BE49-F238E27FC236}">
                              <a16:creationId xmlns:a16="http://schemas.microsoft.com/office/drawing/2014/main" id="{2FCBB911-9E84-64CC-8A4F-A8D77DC0204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384857" y="2614655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1" name="Rectangle 50">
                          <a:extLst>
                            <a:ext uri="{FF2B5EF4-FFF2-40B4-BE49-F238E27FC236}">
                              <a16:creationId xmlns:a16="http://schemas.microsoft.com/office/drawing/2014/main" id="{AFB43696-9F33-B071-7ED3-2C23F33840B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38481" y="3150614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cxnSp>
                      <p:nvCxnSpPr>
                        <p:cNvPr id="52" name="Straight Connector 51">
                          <a:extLst>
                            <a:ext uri="{FF2B5EF4-FFF2-40B4-BE49-F238E27FC236}">
                              <a16:creationId xmlns:a16="http://schemas.microsoft.com/office/drawing/2014/main" id="{3FECA545-8454-AB67-D689-E349DC29701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398596" y="2609596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3" name="Straight Connector 62">
                          <a:extLst>
                            <a:ext uri="{FF2B5EF4-FFF2-40B4-BE49-F238E27FC236}">
                              <a16:creationId xmlns:a16="http://schemas.microsoft.com/office/drawing/2014/main" id="{D9CA50AC-5E06-3D71-7A7E-B602A1461A2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49365" y="3380765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</p:grpSp>
          </p:grp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2233731-25D8-3F0B-FDB4-B633DF8DE94F}"/>
              </a:ext>
            </a:extLst>
          </p:cNvPr>
          <p:cNvGrpSpPr/>
          <p:nvPr/>
        </p:nvGrpSpPr>
        <p:grpSpPr>
          <a:xfrm>
            <a:off x="9310364" y="4259440"/>
            <a:ext cx="2569865" cy="2465783"/>
            <a:chOff x="11019774" y="2073073"/>
            <a:chExt cx="3825759" cy="3670812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2A5040CD-BAC6-CB8A-DA6B-7FD6433893E1}"/>
                </a:ext>
              </a:extLst>
            </p:cNvPr>
            <p:cNvSpPr/>
            <p:nvPr/>
          </p:nvSpPr>
          <p:spPr>
            <a:xfrm>
              <a:off x="14329967" y="3143867"/>
              <a:ext cx="515566" cy="5155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latin typeface="나눔스퀘어_ac Light" panose="020B0600000101010101" pitchFamily="50" charset="-127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62D24F0E-8D29-0974-17FA-309D5D386245}"/>
                </a:ext>
              </a:extLst>
            </p:cNvPr>
            <p:cNvSpPr/>
            <p:nvPr/>
          </p:nvSpPr>
          <p:spPr>
            <a:xfrm>
              <a:off x="14329967" y="2290726"/>
              <a:ext cx="515566" cy="51556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latin typeface="나눔스퀘어_ac Light" panose="020B0600000101010101" pitchFamily="50" charset="-127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6214C08-0DC3-4582-2F19-D2FF3E5DA2DC}"/>
                </a:ext>
              </a:extLst>
            </p:cNvPr>
            <p:cNvSpPr/>
            <p:nvPr/>
          </p:nvSpPr>
          <p:spPr>
            <a:xfrm>
              <a:off x="14329967" y="4047697"/>
              <a:ext cx="515566" cy="515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나눔스퀘어_ac Light" panose="020B0600000101010101" pitchFamily="50" charset="-127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80BE9E8-D487-7C06-7881-4108DBC17C48}"/>
                </a:ext>
              </a:extLst>
            </p:cNvPr>
            <p:cNvSpPr/>
            <p:nvPr/>
          </p:nvSpPr>
          <p:spPr>
            <a:xfrm>
              <a:off x="14329967" y="5007493"/>
              <a:ext cx="515566" cy="51556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나눔스퀘어_ac Light" panose="020B0600000101010101" pitchFamily="50" charset="-127"/>
              </a:endParaRPr>
            </a:p>
          </p:txBody>
        </p:sp>
        <p:sp>
          <p:nvSpPr>
            <p:cNvPr id="103" name="Title 1">
              <a:extLst>
                <a:ext uri="{FF2B5EF4-FFF2-40B4-BE49-F238E27FC236}">
                  <a16:creationId xmlns:a16="http://schemas.microsoft.com/office/drawing/2014/main" id="{800B3586-2F7A-800F-EE62-CF67D3ED2FF8}"/>
                </a:ext>
              </a:extLst>
            </p:cNvPr>
            <p:cNvSpPr txBox="1">
              <a:spLocks/>
            </p:cNvSpPr>
            <p:nvPr/>
          </p:nvSpPr>
          <p:spPr>
            <a:xfrm>
              <a:off x="11019774" y="2910873"/>
              <a:ext cx="3308371" cy="95087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나눔스퀘어_ac Light" panose="020B0600000101010101" pitchFamily="50" charset="-127"/>
                  <a:ea typeface="+mj-ea"/>
                  <a:cs typeface="+mj-cs"/>
                </a:defRPr>
              </a:lvl1pPr>
            </a:lstStyle>
            <a:p>
              <a:pPr algn="r"/>
              <a:r>
                <a:rPr lang="en-GB" sz="1600" dirty="0"/>
                <a:t>Affected female</a:t>
              </a:r>
            </a:p>
          </p:txBody>
        </p:sp>
        <p:sp>
          <p:nvSpPr>
            <p:cNvPr id="104" name="Title 1">
              <a:extLst>
                <a:ext uri="{FF2B5EF4-FFF2-40B4-BE49-F238E27FC236}">
                  <a16:creationId xmlns:a16="http://schemas.microsoft.com/office/drawing/2014/main" id="{5745509D-CE18-0C1B-371A-AFD183FC58FE}"/>
                </a:ext>
              </a:extLst>
            </p:cNvPr>
            <p:cNvSpPr txBox="1">
              <a:spLocks/>
            </p:cNvSpPr>
            <p:nvPr/>
          </p:nvSpPr>
          <p:spPr>
            <a:xfrm>
              <a:off x="11482435" y="2073073"/>
              <a:ext cx="2847532" cy="95087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나눔스퀘어_ac Light" panose="020B0600000101010101" pitchFamily="50" charset="-127"/>
                  <a:ea typeface="+mj-ea"/>
                  <a:cs typeface="+mj-cs"/>
                </a:defRPr>
              </a:lvl1pPr>
            </a:lstStyle>
            <a:p>
              <a:pPr algn="r"/>
              <a:r>
                <a:rPr lang="en-GB" sz="1600" dirty="0"/>
                <a:t>Unaffected female</a:t>
              </a:r>
            </a:p>
          </p:txBody>
        </p:sp>
        <p:sp>
          <p:nvSpPr>
            <p:cNvPr id="105" name="Title 1">
              <a:extLst>
                <a:ext uri="{FF2B5EF4-FFF2-40B4-BE49-F238E27FC236}">
                  <a16:creationId xmlns:a16="http://schemas.microsoft.com/office/drawing/2014/main" id="{BA9D4FFB-547A-2058-28AB-CB8CFAE34A31}"/>
                </a:ext>
              </a:extLst>
            </p:cNvPr>
            <p:cNvSpPr txBox="1">
              <a:spLocks/>
            </p:cNvSpPr>
            <p:nvPr/>
          </p:nvSpPr>
          <p:spPr>
            <a:xfrm>
              <a:off x="11243011" y="4793012"/>
              <a:ext cx="3085134" cy="95087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나눔스퀘어_ac Light" panose="020B0600000101010101" pitchFamily="50" charset="-127"/>
                  <a:ea typeface="+mj-ea"/>
                  <a:cs typeface="+mj-cs"/>
                </a:defRPr>
              </a:lvl1pPr>
            </a:lstStyle>
            <a:p>
              <a:pPr algn="r"/>
              <a:r>
                <a:rPr lang="en-GB" sz="1600" dirty="0"/>
                <a:t>Affected male</a:t>
              </a:r>
            </a:p>
          </p:txBody>
        </p:sp>
        <p:sp>
          <p:nvSpPr>
            <p:cNvPr id="106" name="Title 1">
              <a:extLst>
                <a:ext uri="{FF2B5EF4-FFF2-40B4-BE49-F238E27FC236}">
                  <a16:creationId xmlns:a16="http://schemas.microsoft.com/office/drawing/2014/main" id="{6F52F466-AA3A-82CB-DD5F-5CE97879CE2C}"/>
                </a:ext>
              </a:extLst>
            </p:cNvPr>
            <p:cNvSpPr txBox="1">
              <a:spLocks/>
            </p:cNvSpPr>
            <p:nvPr/>
          </p:nvSpPr>
          <p:spPr>
            <a:xfrm>
              <a:off x="11482435" y="3817592"/>
              <a:ext cx="2845710" cy="95087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나눔스퀘어_ac Light" panose="020B0600000101010101" pitchFamily="50" charset="-127"/>
                  <a:ea typeface="+mj-ea"/>
                  <a:cs typeface="+mj-cs"/>
                </a:defRPr>
              </a:lvl1pPr>
            </a:lstStyle>
            <a:p>
              <a:pPr algn="r"/>
              <a:r>
                <a:rPr lang="en-GB" sz="1600" dirty="0"/>
                <a:t>Unaffected male</a:t>
              </a:r>
            </a:p>
          </p:txBody>
        </p:sp>
      </p:grp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2114163-0F81-E7E9-2C29-6176B929A6CD}"/>
              </a:ext>
            </a:extLst>
          </p:cNvPr>
          <p:cNvCxnSpPr>
            <a:cxnSpLocks/>
          </p:cNvCxnSpPr>
          <p:nvPr/>
        </p:nvCxnSpPr>
        <p:spPr>
          <a:xfrm>
            <a:off x="0" y="1671965"/>
            <a:ext cx="526337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21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42"/>
    </mc:Choice>
    <mc:Fallback xmlns="">
      <p:transition spd="slow" advTm="394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A2CB1-8F3B-6788-44D1-4CB11B2A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1767-9276-2F9D-3159-9ADFF9788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548" y="375757"/>
            <a:ext cx="5817783" cy="1325563"/>
          </a:xfrm>
        </p:spPr>
        <p:txBody>
          <a:bodyPr/>
          <a:lstStyle/>
          <a:p>
            <a:r>
              <a:rPr lang="en-GB" sz="2800" dirty="0"/>
              <a:t>Mode of Inheritance:</a:t>
            </a:r>
            <a:br>
              <a:rPr lang="en-GB" sz="3200" dirty="0"/>
            </a:br>
            <a:r>
              <a:rPr lang="en-GB" sz="3200" dirty="0"/>
              <a:t> </a:t>
            </a:r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Autosomal Recessive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A189910-64DD-70CA-3DC5-406525205B95}"/>
              </a:ext>
            </a:extLst>
          </p:cNvPr>
          <p:cNvCxnSpPr>
            <a:cxnSpLocks/>
          </p:cNvCxnSpPr>
          <p:nvPr/>
        </p:nvCxnSpPr>
        <p:spPr>
          <a:xfrm>
            <a:off x="0" y="1671965"/>
            <a:ext cx="691008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01899FD-A966-6B78-7B79-1E433504F033}"/>
              </a:ext>
            </a:extLst>
          </p:cNvPr>
          <p:cNvGrpSpPr/>
          <p:nvPr/>
        </p:nvGrpSpPr>
        <p:grpSpPr>
          <a:xfrm>
            <a:off x="1099594" y="2262038"/>
            <a:ext cx="6237907" cy="3562220"/>
            <a:chOff x="2319822" y="1979854"/>
            <a:chExt cx="6955005" cy="397172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644CC19-0EE4-3606-4012-D9F2485BA5F4}"/>
                </a:ext>
              </a:extLst>
            </p:cNvPr>
            <p:cNvCxnSpPr>
              <a:cxnSpLocks/>
              <a:stCxn id="122" idx="3"/>
              <a:endCxn id="123" idx="2"/>
            </p:cNvCxnSpPr>
            <p:nvPr/>
          </p:nvCxnSpPr>
          <p:spPr>
            <a:xfrm>
              <a:off x="4337501" y="2383837"/>
              <a:ext cx="46250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317A1781-A957-9C90-BBE8-3B9E86D2FE84}"/>
                </a:ext>
              </a:extLst>
            </p:cNvPr>
            <p:cNvGrpSpPr/>
            <p:nvPr/>
          </p:nvGrpSpPr>
          <p:grpSpPr>
            <a:xfrm>
              <a:off x="2319822" y="1979854"/>
              <a:ext cx="6955005" cy="3971726"/>
              <a:chOff x="1098537" y="1728581"/>
              <a:chExt cx="6955005" cy="3971726"/>
            </a:xfrm>
          </p:grpSpPr>
          <p:sp>
            <p:nvSpPr>
              <p:cNvPr id="67" name="Title 1">
                <a:extLst>
                  <a:ext uri="{FF2B5EF4-FFF2-40B4-BE49-F238E27FC236}">
                    <a16:creationId xmlns:a16="http://schemas.microsoft.com/office/drawing/2014/main" id="{D4F0B4D8-9E5B-3F52-D272-3CFB09FF1C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9476" y="1728581"/>
                <a:ext cx="271488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</a:t>
                </a:r>
              </a:p>
            </p:txBody>
          </p:sp>
          <p:sp>
            <p:nvSpPr>
              <p:cNvPr id="68" name="Title 1">
                <a:extLst>
                  <a:ext uri="{FF2B5EF4-FFF2-40B4-BE49-F238E27FC236}">
                    <a16:creationId xmlns:a16="http://schemas.microsoft.com/office/drawing/2014/main" id="{27F733A0-FA23-2ABD-9E30-A306D6D9D9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7976" y="3851327"/>
                <a:ext cx="515566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III</a:t>
                </a:r>
              </a:p>
            </p:txBody>
          </p:sp>
          <p:sp>
            <p:nvSpPr>
              <p:cNvPr id="69" name="Title 1">
                <a:extLst>
                  <a:ext uri="{FF2B5EF4-FFF2-40B4-BE49-F238E27FC236}">
                    <a16:creationId xmlns:a16="http://schemas.microsoft.com/office/drawing/2014/main" id="{AEC4E2E7-38BE-ECD6-EFB9-DC93B7D093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7976" y="4901896"/>
                <a:ext cx="515566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IV</a:t>
                </a: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77AF1E16-DE08-6797-0B03-E4194AE9108E}"/>
                  </a:ext>
                </a:extLst>
              </p:cNvPr>
              <p:cNvGrpSpPr/>
              <p:nvPr/>
            </p:nvGrpSpPr>
            <p:grpSpPr>
              <a:xfrm>
                <a:off x="1098537" y="1928885"/>
                <a:ext cx="6866912" cy="3575897"/>
                <a:chOff x="1098537" y="1928885"/>
                <a:chExt cx="6866912" cy="3575897"/>
              </a:xfrm>
            </p:grpSpPr>
            <p:sp>
              <p:nvSpPr>
                <p:cNvPr id="71" name="Title 1">
                  <a:extLst>
                    <a:ext uri="{FF2B5EF4-FFF2-40B4-BE49-F238E27FC236}">
                      <a16:creationId xmlns:a16="http://schemas.microsoft.com/office/drawing/2014/main" id="{7D098E43-7DE0-EB7A-3916-9E49855648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549887" y="2749560"/>
                  <a:ext cx="415562" cy="79841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r>
                    <a:rPr lang="en-GB" sz="2000" dirty="0">
                      <a:latin typeface="나눔스퀘어_ac Light" panose="020B0600000101010101" pitchFamily="50" charset="-127"/>
                    </a:rPr>
                    <a:t>II</a:t>
                  </a:r>
                </a:p>
              </p:txBody>
            </p: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8B46431F-AB46-507F-2AF9-00E5ED50D378}"/>
                    </a:ext>
                  </a:extLst>
                </p:cNvPr>
                <p:cNvGrpSpPr/>
                <p:nvPr/>
              </p:nvGrpSpPr>
              <p:grpSpPr>
                <a:xfrm>
                  <a:off x="1098537" y="1928885"/>
                  <a:ext cx="5722393" cy="3575897"/>
                  <a:chOff x="1246818" y="1821336"/>
                  <a:chExt cx="7242443" cy="4525770"/>
                </a:xfrm>
              </p:grpSpPr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E9AB45E9-5FF2-A0D1-BA79-5EB895C67F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67318" y="3928706"/>
                    <a:ext cx="156964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4" name="Group 73">
                    <a:extLst>
                      <a:ext uri="{FF2B5EF4-FFF2-40B4-BE49-F238E27FC236}">
                        <a16:creationId xmlns:a16="http://schemas.microsoft.com/office/drawing/2014/main" id="{6F5C491D-1DAA-C1E7-A884-A59EBC63826B}"/>
                      </a:ext>
                    </a:extLst>
                  </p:cNvPr>
                  <p:cNvGrpSpPr/>
                  <p:nvPr/>
                </p:nvGrpSpPr>
                <p:grpSpPr>
                  <a:xfrm>
                    <a:off x="1246818" y="1821336"/>
                    <a:ext cx="7242443" cy="4525770"/>
                    <a:chOff x="1246818" y="1821336"/>
                    <a:chExt cx="7242443" cy="4525770"/>
                  </a:xfrm>
                </p:grpSpPr>
                <p:cxnSp>
                  <p:nvCxnSpPr>
                    <p:cNvPr id="75" name="Straight Connector 74">
                      <a:extLst>
                        <a:ext uri="{FF2B5EF4-FFF2-40B4-BE49-F238E27FC236}">
                          <a16:creationId xmlns:a16="http://schemas.microsoft.com/office/drawing/2014/main" id="{839D18BE-F596-D18C-0414-AFEFF634757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26866" y="4718282"/>
                      <a:ext cx="1794817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76" name="Group 75">
                      <a:extLst>
                        <a:ext uri="{FF2B5EF4-FFF2-40B4-BE49-F238E27FC236}">
                          <a16:creationId xmlns:a16="http://schemas.microsoft.com/office/drawing/2014/main" id="{578848D2-38F3-AA6E-FE8D-E934F6185E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46818" y="1821336"/>
                      <a:ext cx="7242443" cy="4525770"/>
                      <a:chOff x="1246818" y="1821336"/>
                      <a:chExt cx="7242443" cy="4525770"/>
                    </a:xfrm>
                  </p:grpSpPr>
                  <p:sp>
                    <p:nvSpPr>
                      <p:cNvPr id="77" name="Rectangle 76">
                        <a:extLst>
                          <a:ext uri="{FF2B5EF4-FFF2-40B4-BE49-F238E27FC236}">
                            <a16:creationId xmlns:a16="http://schemas.microsoft.com/office/drawing/2014/main" id="{654AFCA5-90A8-6149-6515-97746E85EC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02494" y="4442599"/>
                        <a:ext cx="515564" cy="515810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3289871A-55E7-A627-F77C-70C888196E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91615" y="4439083"/>
                        <a:ext cx="515566" cy="51556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79" name="Rectangle 78">
                        <a:extLst>
                          <a:ext uri="{FF2B5EF4-FFF2-40B4-BE49-F238E27FC236}">
                            <a16:creationId xmlns:a16="http://schemas.microsoft.com/office/drawing/2014/main" id="{BA9B1C7A-BAFB-88F0-E6A3-5EE7D347D8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057" y="4439083"/>
                        <a:ext cx="515566" cy="515566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0" name="Oval 79">
                        <a:extLst>
                          <a:ext uri="{FF2B5EF4-FFF2-40B4-BE49-F238E27FC236}">
                            <a16:creationId xmlns:a16="http://schemas.microsoft.com/office/drawing/2014/main" id="{389876F8-45F1-174E-B699-03EAB9E12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24440" y="4460499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1" name="Oval 80">
                        <a:extLst>
                          <a:ext uri="{FF2B5EF4-FFF2-40B4-BE49-F238E27FC236}">
                            <a16:creationId xmlns:a16="http://schemas.microsoft.com/office/drawing/2014/main" id="{BA76F979-3CFE-5499-5CAC-41EDCC2834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02405" y="4466626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2" name="Rectangle 81">
                        <a:extLst>
                          <a:ext uri="{FF2B5EF4-FFF2-40B4-BE49-F238E27FC236}">
                            <a16:creationId xmlns:a16="http://schemas.microsoft.com/office/drawing/2014/main" id="{4C636CE8-F5B1-EFBD-16C0-BD2DC0D468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73695" y="4453440"/>
                        <a:ext cx="515566" cy="51556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3" name="Oval 82">
                        <a:extLst>
                          <a:ext uri="{FF2B5EF4-FFF2-40B4-BE49-F238E27FC236}">
                            <a16:creationId xmlns:a16="http://schemas.microsoft.com/office/drawing/2014/main" id="{58486FEA-E3A2-CD6E-B7AE-CA298334A8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3102" y="5815782"/>
                        <a:ext cx="515566" cy="51556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4" name="Oval 83">
                        <a:extLst>
                          <a:ext uri="{FF2B5EF4-FFF2-40B4-BE49-F238E27FC236}">
                            <a16:creationId xmlns:a16="http://schemas.microsoft.com/office/drawing/2014/main" id="{E5B413BD-678E-8AFD-7DDC-A27A4D9A4F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3439" y="5831540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cxnSp>
                    <p:nvCxnSpPr>
                      <p:cNvPr id="85" name="Straight Connector 84">
                        <a:extLst>
                          <a:ext uri="{FF2B5EF4-FFF2-40B4-BE49-F238E27FC236}">
                            <a16:creationId xmlns:a16="http://schemas.microsoft.com/office/drawing/2014/main" id="{E6D15A48-1FC4-1A25-BCCC-A55A45F3F49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054969" y="3373147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" name="Straight Connector 85">
                        <a:extLst>
                          <a:ext uri="{FF2B5EF4-FFF2-40B4-BE49-F238E27FC236}">
                            <a16:creationId xmlns:a16="http://schemas.microsoft.com/office/drawing/2014/main" id="{C5C9728C-E551-CE27-0406-F686F44C088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556366" y="3904471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Straight Connector 86">
                        <a:extLst>
                          <a:ext uri="{FF2B5EF4-FFF2-40B4-BE49-F238E27FC236}">
                            <a16:creationId xmlns:a16="http://schemas.microsoft.com/office/drawing/2014/main" id="{0822D8DD-0E11-5DF9-9144-F17C21D7EE7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90481" y="3904471"/>
                        <a:ext cx="956554" cy="680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Straight Connector 87">
                        <a:extLst>
                          <a:ext uri="{FF2B5EF4-FFF2-40B4-BE49-F238E27FC236}">
                            <a16:creationId xmlns:a16="http://schemas.microsoft.com/office/drawing/2014/main" id="{36F51EF6-6155-9588-FC98-AD39C4B2294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968640" y="3379023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9" name="Straight Connector 88">
                        <a:extLst>
                          <a:ext uri="{FF2B5EF4-FFF2-40B4-BE49-F238E27FC236}">
                            <a16:creationId xmlns:a16="http://schemas.microsoft.com/office/drawing/2014/main" id="{AA950C9A-1F8A-C35C-4321-577E27C2EC9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549398" y="3907759"/>
                        <a:ext cx="82244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0" name="Straight Connector 89">
                        <a:extLst>
                          <a:ext uri="{FF2B5EF4-FFF2-40B4-BE49-F238E27FC236}">
                            <a16:creationId xmlns:a16="http://schemas.microsoft.com/office/drawing/2014/main" id="{FDEE5606-CA2D-E706-B8CD-F3BF402F50D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549398" y="3907759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1" name="Straight Connector 90">
                        <a:extLst>
                          <a:ext uri="{FF2B5EF4-FFF2-40B4-BE49-F238E27FC236}">
                            <a16:creationId xmlns:a16="http://schemas.microsoft.com/office/drawing/2014/main" id="{F05189DD-B24C-B834-ABFA-931EAF0BBDC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374620" y="3900763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2" name="Straight Connector 91">
                        <a:extLst>
                          <a:ext uri="{FF2B5EF4-FFF2-40B4-BE49-F238E27FC236}">
                            <a16:creationId xmlns:a16="http://schemas.microsoft.com/office/drawing/2014/main" id="{B3FC926D-324F-AA5A-3A0A-B434F13DA35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674342" y="3926512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3" name="Straight Connector 92">
                        <a:extLst>
                          <a:ext uri="{FF2B5EF4-FFF2-40B4-BE49-F238E27FC236}">
                            <a16:creationId xmlns:a16="http://schemas.microsoft.com/office/drawing/2014/main" id="{C8823AF2-3AC2-B932-6373-1A23F024148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452139" y="3935878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" name="Straight Connector 93">
                        <a:extLst>
                          <a:ext uri="{FF2B5EF4-FFF2-40B4-BE49-F238E27FC236}">
                            <a16:creationId xmlns:a16="http://schemas.microsoft.com/office/drawing/2014/main" id="{5CE42C60-59CE-C205-FF2F-50AD970EA8C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234377" y="3935302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5" name="Straight Connector 94">
                        <a:extLst>
                          <a:ext uri="{FF2B5EF4-FFF2-40B4-BE49-F238E27FC236}">
                            <a16:creationId xmlns:a16="http://schemas.microsoft.com/office/drawing/2014/main" id="{0EB910C5-7E5F-51D8-F950-98D94E5038A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629623" y="4758907"/>
                        <a:ext cx="1807106" cy="624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" name="Straight Connector 95">
                        <a:extLst>
                          <a:ext uri="{FF2B5EF4-FFF2-40B4-BE49-F238E27FC236}">
                            <a16:creationId xmlns:a16="http://schemas.microsoft.com/office/drawing/2014/main" id="{9FC0CF24-440F-72FC-8956-589075B82AA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581054" y="4765351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Straight Connector 96">
                        <a:extLst>
                          <a:ext uri="{FF2B5EF4-FFF2-40B4-BE49-F238E27FC236}">
                            <a16:creationId xmlns:a16="http://schemas.microsoft.com/office/drawing/2014/main" id="{DC203058-0EE2-5F5F-0033-03F2B8ECFDA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91222" y="5296675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8" name="Straight Connector 97">
                        <a:extLst>
                          <a:ext uri="{FF2B5EF4-FFF2-40B4-BE49-F238E27FC236}">
                            <a16:creationId xmlns:a16="http://schemas.microsoft.com/office/drawing/2014/main" id="{0C4414A1-E6A0-07FC-32D5-2D2E0EA0131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84078" y="5296675"/>
                        <a:ext cx="1193951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9" name="Straight Connector 98">
                        <a:extLst>
                          <a:ext uri="{FF2B5EF4-FFF2-40B4-BE49-F238E27FC236}">
                            <a16:creationId xmlns:a16="http://schemas.microsoft.com/office/drawing/2014/main" id="{7DAB6D33-8CA2-AD45-C690-505D9FAA166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179850" y="5298496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0" name="Straight Connector 99">
                        <a:extLst>
                          <a:ext uri="{FF2B5EF4-FFF2-40B4-BE49-F238E27FC236}">
                            <a16:creationId xmlns:a16="http://schemas.microsoft.com/office/drawing/2014/main" id="{D24B1430-171D-C150-E91B-562B1639B5E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99812" y="3911275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1" name="Rectangle 100">
                        <a:extLst>
                          <a:ext uri="{FF2B5EF4-FFF2-40B4-BE49-F238E27FC236}">
                            <a16:creationId xmlns:a16="http://schemas.microsoft.com/office/drawing/2014/main" id="{B3E085FF-99E4-56F9-B68D-CB4A19CFD8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54934" y="4442843"/>
                        <a:ext cx="515566" cy="515566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grpSp>
                    <p:nvGrpSpPr>
                      <p:cNvPr id="102" name="Group 101">
                        <a:extLst>
                          <a:ext uri="{FF2B5EF4-FFF2-40B4-BE49-F238E27FC236}">
                            <a16:creationId xmlns:a16="http://schemas.microsoft.com/office/drawing/2014/main" id="{FE5C9F93-1E7A-40F7-46C8-7FEEB493439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46818" y="1821336"/>
                        <a:ext cx="7129263" cy="2106004"/>
                        <a:chOff x="1246818" y="1821336"/>
                        <a:chExt cx="7129263" cy="2106004"/>
                      </a:xfrm>
                    </p:grpSpPr>
                    <p:sp>
                      <p:nvSpPr>
                        <p:cNvPr id="103" name="Oval 102">
                          <a:extLst>
                            <a:ext uri="{FF2B5EF4-FFF2-40B4-BE49-F238E27FC236}">
                              <a16:creationId xmlns:a16="http://schemas.microsoft.com/office/drawing/2014/main" id="{C29A33BA-956B-1C70-B8C1-9A55E137AE0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47750" y="3152703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4" name="Oval 103">
                          <a:extLst>
                            <a:ext uri="{FF2B5EF4-FFF2-40B4-BE49-F238E27FC236}">
                              <a16:creationId xmlns:a16="http://schemas.microsoft.com/office/drawing/2014/main" id="{A42F56A1-32B3-AB99-5BD2-FE04A818EE7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60068" y="3145728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  <a:latin typeface="나눔스퀘어_ac Light" panose="020B0600000101010101" pitchFamily="50" charset="-127"/>
                            </a:rPr>
                            <a:t>B</a:t>
                          </a:r>
                        </a:p>
                      </p:txBody>
                    </p:sp>
                    <p:sp>
                      <p:nvSpPr>
                        <p:cNvPr id="105" name="Oval 104">
                          <a:extLst>
                            <a:ext uri="{FF2B5EF4-FFF2-40B4-BE49-F238E27FC236}">
                              <a16:creationId xmlns:a16="http://schemas.microsoft.com/office/drawing/2014/main" id="{9FCC5414-53E2-4C63-986E-A9AD395B05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30694" y="3144170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6" name="Rectangle 105">
                          <a:extLst>
                            <a:ext uri="{FF2B5EF4-FFF2-40B4-BE49-F238E27FC236}">
                              <a16:creationId xmlns:a16="http://schemas.microsoft.com/office/drawing/2014/main" id="{598F822C-DDCE-EB18-8BCD-6A7ADFF1B22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46818" y="3165416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7" name="Oval 106">
                          <a:extLst>
                            <a:ext uri="{FF2B5EF4-FFF2-40B4-BE49-F238E27FC236}">
                              <a16:creationId xmlns:a16="http://schemas.microsoft.com/office/drawing/2014/main" id="{E4DF59E7-07BB-7F53-38C2-94B8A2FDD3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32754" y="3130437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8" name="Rectangle 107">
                          <a:extLst>
                            <a:ext uri="{FF2B5EF4-FFF2-40B4-BE49-F238E27FC236}">
                              <a16:creationId xmlns:a16="http://schemas.microsoft.com/office/drawing/2014/main" id="{C32F5E2F-E0E4-F59B-406E-EECDF71FCC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860515" y="3139001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cxnSp>
                      <p:nvCxnSpPr>
                        <p:cNvPr id="109" name="Straight Connector 108">
                          <a:extLst>
                            <a:ext uri="{FF2B5EF4-FFF2-40B4-BE49-F238E27FC236}">
                              <a16:creationId xmlns:a16="http://schemas.microsoft.com/office/drawing/2014/main" id="{D71ADCF1-F049-780A-90D3-3A880F32FE8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584169" y="2604397"/>
                          <a:ext cx="4438980" cy="734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10" name="Group 109">
                          <a:extLst>
                            <a:ext uri="{FF2B5EF4-FFF2-40B4-BE49-F238E27FC236}">
                              <a16:creationId xmlns:a16="http://schemas.microsoft.com/office/drawing/2014/main" id="{FCA6AA1E-700C-BF49-FC06-35190E63DEA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284890" y="1821336"/>
                          <a:ext cx="1616498" cy="783061"/>
                          <a:chOff x="3284890" y="1821336"/>
                          <a:chExt cx="1616498" cy="783061"/>
                        </a:xfrm>
                      </p:grpSpPr>
                      <p:sp>
                        <p:nvSpPr>
                          <p:cNvPr id="122" name="Rectangle 121">
                            <a:extLst>
                              <a:ext uri="{FF2B5EF4-FFF2-40B4-BE49-F238E27FC236}">
                                <a16:creationId xmlns:a16="http://schemas.microsoft.com/office/drawing/2014/main" id="{400305B7-7035-8131-ABB5-8839B91134E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284890" y="1821336"/>
                            <a:ext cx="515566" cy="515566"/>
                          </a:xfrm>
                          <a:prstGeom prst="rect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dirty="0">
                              <a:latin typeface="나눔스퀘어_ac Light" panose="020B0600000101010101" pitchFamily="50" charset="-127"/>
                            </a:endParaRPr>
                          </a:p>
                        </p:txBody>
                      </p:sp>
                      <p:sp>
                        <p:nvSpPr>
                          <p:cNvPr id="123" name="Oval 122">
                            <a:extLst>
                              <a:ext uri="{FF2B5EF4-FFF2-40B4-BE49-F238E27FC236}">
                                <a16:creationId xmlns:a16="http://schemas.microsoft.com/office/drawing/2014/main" id="{76513D15-0BAA-7CF7-E388-5C37C880A6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385822" y="1821336"/>
                            <a:ext cx="515566" cy="515566"/>
                          </a:xfrm>
                          <a:prstGeom prst="ellipse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dirty="0">
                              <a:latin typeface="나눔스퀘어_ac Light" panose="020B0600000101010101" pitchFamily="50" charset="-127"/>
                            </a:endParaRPr>
                          </a:p>
                        </p:txBody>
                      </p:sp>
                      <p:cxnSp>
                        <p:nvCxnSpPr>
                          <p:cNvPr id="124" name="Straight Connector 123">
                            <a:extLst>
                              <a:ext uri="{FF2B5EF4-FFF2-40B4-BE49-F238E27FC236}">
                                <a16:creationId xmlns:a16="http://schemas.microsoft.com/office/drawing/2014/main" id="{75DCE689-349E-B195-DA8D-3E520247F9D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108496" y="2073073"/>
                            <a:ext cx="0" cy="531324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111" name="Straight Connector 110">
                          <a:extLst>
                            <a:ext uri="{FF2B5EF4-FFF2-40B4-BE49-F238E27FC236}">
                              <a16:creationId xmlns:a16="http://schemas.microsoft.com/office/drawing/2014/main" id="{B9C12C1C-9E14-8284-CE33-B5392450AFD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593673" y="2611741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2" name="Straight Connector 111">
                          <a:extLst>
                            <a:ext uri="{FF2B5EF4-FFF2-40B4-BE49-F238E27FC236}">
                              <a16:creationId xmlns:a16="http://schemas.microsoft.com/office/drawing/2014/main" id="{3F4A9AF9-B816-373C-A08B-91F71E3BB1A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198729" y="2605808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3" name="Straight Connector 112">
                          <a:extLst>
                            <a:ext uri="{FF2B5EF4-FFF2-40B4-BE49-F238E27FC236}">
                              <a16:creationId xmlns:a16="http://schemas.microsoft.com/office/drawing/2014/main" id="{E42EFCC3-C234-3BCB-5F85-BCEA7D76E4B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023149" y="2605395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4" name="Straight Connector 113">
                          <a:extLst>
                            <a:ext uri="{FF2B5EF4-FFF2-40B4-BE49-F238E27FC236}">
                              <a16:creationId xmlns:a16="http://schemas.microsoft.com/office/drawing/2014/main" id="{E3D4D7C8-80C8-E5F5-7386-8D4CAA6E1E6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279083" y="3404373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5" name="Straight Connector 114">
                          <a:extLst>
                            <a:ext uri="{FF2B5EF4-FFF2-40B4-BE49-F238E27FC236}">
                              <a16:creationId xmlns:a16="http://schemas.microsoft.com/office/drawing/2014/main" id="{9BA88465-C621-AE08-0F8E-30E56AFFDE9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576309" y="3396016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6" name="Straight Connector 115">
                          <a:extLst>
                            <a:ext uri="{FF2B5EF4-FFF2-40B4-BE49-F238E27FC236}">
                              <a16:creationId xmlns:a16="http://schemas.microsoft.com/office/drawing/2014/main" id="{B4C8EC2A-39F3-91FF-EF97-F4314ED06F5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759872" y="3365256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17" name="Rectangle 116">
                          <a:extLst>
                            <a:ext uri="{FF2B5EF4-FFF2-40B4-BE49-F238E27FC236}">
                              <a16:creationId xmlns:a16="http://schemas.microsoft.com/office/drawing/2014/main" id="{35D6F9FF-463C-BF06-0514-7A456600E9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129769" y="3156146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  <a:latin typeface="나눔스퀘어_ac Light" panose="020B0600000101010101" pitchFamily="50" charset="-127"/>
                            </a:rPr>
                            <a:t>A</a:t>
                          </a:r>
                        </a:p>
                      </p:txBody>
                    </p:sp>
                    <p:cxnSp>
                      <p:nvCxnSpPr>
                        <p:cNvPr id="118" name="Straight Connector 117">
                          <a:extLst>
                            <a:ext uri="{FF2B5EF4-FFF2-40B4-BE49-F238E27FC236}">
                              <a16:creationId xmlns:a16="http://schemas.microsoft.com/office/drawing/2014/main" id="{1F79895A-68FE-1834-848E-57AFD4C234B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384857" y="2614655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19" name="Rectangle 118">
                          <a:extLst>
                            <a:ext uri="{FF2B5EF4-FFF2-40B4-BE49-F238E27FC236}">
                              <a16:creationId xmlns:a16="http://schemas.microsoft.com/office/drawing/2014/main" id="{D69A2B00-5BB8-DD89-5673-CB13947ECC6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38481" y="3150614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cxnSp>
                      <p:nvCxnSpPr>
                        <p:cNvPr id="120" name="Straight Connector 119">
                          <a:extLst>
                            <a:ext uri="{FF2B5EF4-FFF2-40B4-BE49-F238E27FC236}">
                              <a16:creationId xmlns:a16="http://schemas.microsoft.com/office/drawing/2014/main" id="{999CA717-B1CA-D33C-D610-D6A922750D5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398596" y="2609596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1" name="Straight Connector 120">
                          <a:extLst>
                            <a:ext uri="{FF2B5EF4-FFF2-40B4-BE49-F238E27FC236}">
                              <a16:creationId xmlns:a16="http://schemas.microsoft.com/office/drawing/2014/main" id="{3C4A6D5C-A442-2885-4600-9205688B023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49365" y="3380765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</p:grpSp>
          </p:grpSp>
        </p:grpSp>
      </p:grpSp>
      <p:sp>
        <p:nvSpPr>
          <p:cNvPr id="125" name="Title 1">
            <a:extLst>
              <a:ext uri="{FF2B5EF4-FFF2-40B4-BE49-F238E27FC236}">
                <a16:creationId xmlns:a16="http://schemas.microsoft.com/office/drawing/2014/main" id="{BC262F4F-AE9F-E00F-52E4-0BB06F6C4121}"/>
              </a:ext>
            </a:extLst>
          </p:cNvPr>
          <p:cNvSpPr txBox="1">
            <a:spLocks/>
          </p:cNvSpPr>
          <p:nvPr/>
        </p:nvSpPr>
        <p:spPr>
          <a:xfrm>
            <a:off x="9440863" y="4747492"/>
            <a:ext cx="2557173" cy="1746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sz="2800" dirty="0"/>
              <a:t>T: Dominant</a:t>
            </a:r>
          </a:p>
          <a:p>
            <a:r>
              <a:rPr lang="en-GB" sz="2800" dirty="0"/>
              <a:t>t: recessive</a:t>
            </a:r>
          </a:p>
          <a:p>
            <a:r>
              <a:rPr lang="en-GB" sz="2800" dirty="0"/>
              <a:t>_: Not set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E5CE66-87B0-A936-7B16-955CF3BF988E}"/>
              </a:ext>
            </a:extLst>
          </p:cNvPr>
          <p:cNvSpPr txBox="1">
            <a:spLocks/>
          </p:cNvSpPr>
          <p:nvPr/>
        </p:nvSpPr>
        <p:spPr>
          <a:xfrm>
            <a:off x="2519193" y="4490990"/>
            <a:ext cx="381784" cy="71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 err="1">
                <a:latin typeface="나눔스퀘어_ac Light" panose="020B0600000101010101" pitchFamily="50" charset="-127"/>
              </a:rPr>
              <a:t>tt</a:t>
            </a:r>
            <a:endParaRPr lang="en-GB" sz="2000" dirty="0">
              <a:latin typeface="나눔스퀘어_ac Light" panose="020B0600000101010101" pitchFamily="50" charset="-127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74D78A-BC3C-EE51-E0B1-731DDEC5A041}"/>
              </a:ext>
            </a:extLst>
          </p:cNvPr>
          <p:cNvSpPr txBox="1">
            <a:spLocks/>
          </p:cNvSpPr>
          <p:nvPr/>
        </p:nvSpPr>
        <p:spPr>
          <a:xfrm>
            <a:off x="4418840" y="5499570"/>
            <a:ext cx="381784" cy="71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 err="1">
                <a:latin typeface="나눔스퀘어_ac Light" panose="020B0600000101010101" pitchFamily="50" charset="-127"/>
              </a:rPr>
              <a:t>tt</a:t>
            </a:r>
            <a:endParaRPr lang="en-GB" sz="2000" dirty="0">
              <a:latin typeface="나눔스퀘어_ac Light" panose="020B0600000101010101" pitchFamily="50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CBBA17-C3AB-DC04-06B1-ABC200D73CD9}"/>
              </a:ext>
            </a:extLst>
          </p:cNvPr>
          <p:cNvSpPr txBox="1">
            <a:spLocks/>
          </p:cNvSpPr>
          <p:nvPr/>
        </p:nvSpPr>
        <p:spPr>
          <a:xfrm>
            <a:off x="5888577" y="4546455"/>
            <a:ext cx="381784" cy="71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 err="1">
                <a:latin typeface="나눔스퀘어_ac Light" panose="020B0600000101010101" pitchFamily="50" charset="-127"/>
              </a:rPr>
              <a:t>tt</a:t>
            </a:r>
            <a:endParaRPr lang="en-GB" sz="2000" dirty="0">
              <a:latin typeface="나눔스퀘어_ac Light" panose="020B0600000101010101" pitchFamily="50" charset="-127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2C897A-FC38-33CE-21C7-BE9EF641D19D}"/>
              </a:ext>
            </a:extLst>
          </p:cNvPr>
          <p:cNvSpPr txBox="1">
            <a:spLocks/>
          </p:cNvSpPr>
          <p:nvPr/>
        </p:nvSpPr>
        <p:spPr>
          <a:xfrm>
            <a:off x="2352164" y="3589144"/>
            <a:ext cx="462408" cy="71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latin typeface="나눔스퀘어_ac Light" panose="020B0600000101010101" pitchFamily="50" charset="-127"/>
              </a:rPr>
              <a:t>Tt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CE7EDA-BA00-2184-4057-A3AC52E58E71}"/>
              </a:ext>
            </a:extLst>
          </p:cNvPr>
          <p:cNvSpPr txBox="1">
            <a:spLocks/>
          </p:cNvSpPr>
          <p:nvPr/>
        </p:nvSpPr>
        <p:spPr>
          <a:xfrm>
            <a:off x="3224576" y="3600193"/>
            <a:ext cx="462408" cy="71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latin typeface="나눔스퀘어_ac Light" panose="020B0600000101010101" pitchFamily="50" charset="-127"/>
              </a:rPr>
              <a:t>Tt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67CC4AF-4BE0-64D5-887A-573DAD4E1EEA}"/>
              </a:ext>
            </a:extLst>
          </p:cNvPr>
          <p:cNvSpPr txBox="1">
            <a:spLocks/>
          </p:cNvSpPr>
          <p:nvPr/>
        </p:nvSpPr>
        <p:spPr>
          <a:xfrm>
            <a:off x="6023382" y="3535794"/>
            <a:ext cx="462408" cy="71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latin typeface="나눔스퀘어_ac Light" panose="020B0600000101010101" pitchFamily="50" charset="-127"/>
              </a:rPr>
              <a:t>Tt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A2644D2-E01C-C274-4B17-5E7652BF73DA}"/>
              </a:ext>
            </a:extLst>
          </p:cNvPr>
          <p:cNvSpPr txBox="1">
            <a:spLocks/>
          </p:cNvSpPr>
          <p:nvPr/>
        </p:nvSpPr>
        <p:spPr>
          <a:xfrm>
            <a:off x="4859750" y="3545550"/>
            <a:ext cx="462408" cy="71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latin typeface="나눔스퀘어_ac Light" panose="020B0600000101010101" pitchFamily="50" charset="-127"/>
              </a:rPr>
              <a:t>Tt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64B13AE-2E50-64C9-823D-01C61B57324C}"/>
              </a:ext>
            </a:extLst>
          </p:cNvPr>
          <p:cNvSpPr txBox="1">
            <a:spLocks/>
          </p:cNvSpPr>
          <p:nvPr/>
        </p:nvSpPr>
        <p:spPr>
          <a:xfrm>
            <a:off x="3102646" y="4496820"/>
            <a:ext cx="462408" cy="71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latin typeface="나눔스퀘어_ac Light" panose="020B0600000101010101" pitchFamily="50" charset="-127"/>
              </a:rPr>
              <a:t>Tt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E0866D2-D63A-407F-64B6-9CD9FAE1F43C}"/>
              </a:ext>
            </a:extLst>
          </p:cNvPr>
          <p:cNvSpPr txBox="1">
            <a:spLocks/>
          </p:cNvSpPr>
          <p:nvPr/>
        </p:nvSpPr>
        <p:spPr>
          <a:xfrm>
            <a:off x="4728918" y="4497591"/>
            <a:ext cx="462408" cy="71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latin typeface="나눔스퀘어_ac Light" panose="020B0600000101010101" pitchFamily="50" charset="-127"/>
              </a:rPr>
              <a:t>Tt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5D381B9-D22D-4EAD-B66D-EDD79805E502}"/>
              </a:ext>
            </a:extLst>
          </p:cNvPr>
          <p:cNvSpPr txBox="1">
            <a:spLocks/>
          </p:cNvSpPr>
          <p:nvPr/>
        </p:nvSpPr>
        <p:spPr>
          <a:xfrm>
            <a:off x="1008161" y="5418411"/>
            <a:ext cx="1425793" cy="71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latin typeface="나눔스퀘어_ac Light" panose="020B0600000101010101" pitchFamily="50" charset="-127"/>
              </a:rPr>
              <a:t>Rest: T_</a:t>
            </a:r>
          </a:p>
        </p:txBody>
      </p:sp>
    </p:spTree>
    <p:extLst>
      <p:ext uri="{BB962C8B-B14F-4D97-AF65-F5344CB8AC3E}">
        <p14:creationId xmlns:p14="http://schemas.microsoft.com/office/powerpoint/2010/main" val="2625645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17"/>
    </mc:Choice>
    <mc:Fallback xmlns="">
      <p:transition spd="slow" advTm="661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419D9-5F15-E572-B84D-B8ADD204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47EB79-8368-76F1-D2AF-2B6935A78F33}"/>
              </a:ext>
            </a:extLst>
          </p:cNvPr>
          <p:cNvCxnSpPr>
            <a:cxnSpLocks/>
          </p:cNvCxnSpPr>
          <p:nvPr/>
        </p:nvCxnSpPr>
        <p:spPr>
          <a:xfrm>
            <a:off x="0" y="1671965"/>
            <a:ext cx="691008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A6BAE59-0744-B3F7-5189-95625A9DDF18}"/>
              </a:ext>
            </a:extLst>
          </p:cNvPr>
          <p:cNvGrpSpPr/>
          <p:nvPr/>
        </p:nvGrpSpPr>
        <p:grpSpPr>
          <a:xfrm>
            <a:off x="1099595" y="2722240"/>
            <a:ext cx="5432032" cy="3102017"/>
            <a:chOff x="2319822" y="1979854"/>
            <a:chExt cx="6955005" cy="397172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B4FBE7B-0142-77A9-1CC6-83429B20EEEE}"/>
                </a:ext>
              </a:extLst>
            </p:cNvPr>
            <p:cNvCxnSpPr>
              <a:cxnSpLocks/>
              <a:stCxn id="122" idx="3"/>
              <a:endCxn id="123" idx="2"/>
            </p:cNvCxnSpPr>
            <p:nvPr/>
          </p:nvCxnSpPr>
          <p:spPr>
            <a:xfrm>
              <a:off x="4337501" y="2383837"/>
              <a:ext cx="46250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701F13B-82AF-1E14-C786-DF4818DC3A06}"/>
                </a:ext>
              </a:extLst>
            </p:cNvPr>
            <p:cNvGrpSpPr/>
            <p:nvPr/>
          </p:nvGrpSpPr>
          <p:grpSpPr>
            <a:xfrm>
              <a:off x="2319822" y="1979854"/>
              <a:ext cx="6955005" cy="3971726"/>
              <a:chOff x="1098537" y="1728581"/>
              <a:chExt cx="6955005" cy="3971726"/>
            </a:xfrm>
          </p:grpSpPr>
          <p:sp>
            <p:nvSpPr>
              <p:cNvPr id="67" name="Title 1">
                <a:extLst>
                  <a:ext uri="{FF2B5EF4-FFF2-40B4-BE49-F238E27FC236}">
                    <a16:creationId xmlns:a16="http://schemas.microsoft.com/office/drawing/2014/main" id="{482EB2B3-5844-E01B-3DEB-7A1F94E5AA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9476" y="1728581"/>
                <a:ext cx="271488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</a:t>
                </a:r>
              </a:p>
            </p:txBody>
          </p:sp>
          <p:sp>
            <p:nvSpPr>
              <p:cNvPr id="68" name="Title 1">
                <a:extLst>
                  <a:ext uri="{FF2B5EF4-FFF2-40B4-BE49-F238E27FC236}">
                    <a16:creationId xmlns:a16="http://schemas.microsoft.com/office/drawing/2014/main" id="{2E76129E-5746-51BA-DC98-B6DECC09B3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7976" y="3851327"/>
                <a:ext cx="515566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III</a:t>
                </a:r>
              </a:p>
            </p:txBody>
          </p:sp>
          <p:sp>
            <p:nvSpPr>
              <p:cNvPr id="69" name="Title 1">
                <a:extLst>
                  <a:ext uri="{FF2B5EF4-FFF2-40B4-BE49-F238E27FC236}">
                    <a16:creationId xmlns:a16="http://schemas.microsoft.com/office/drawing/2014/main" id="{F88FB9B9-B31B-A714-D9B6-88C3853DCF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7976" y="4901896"/>
                <a:ext cx="515566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IV</a:t>
                </a: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494B3927-9ED5-8B2D-3851-3DA4BBE5A5E6}"/>
                  </a:ext>
                </a:extLst>
              </p:cNvPr>
              <p:cNvGrpSpPr/>
              <p:nvPr/>
            </p:nvGrpSpPr>
            <p:grpSpPr>
              <a:xfrm>
                <a:off x="1098537" y="1928885"/>
                <a:ext cx="6866912" cy="3575897"/>
                <a:chOff x="1098537" y="1928885"/>
                <a:chExt cx="6866912" cy="3575897"/>
              </a:xfrm>
            </p:grpSpPr>
            <p:sp>
              <p:nvSpPr>
                <p:cNvPr id="71" name="Title 1">
                  <a:extLst>
                    <a:ext uri="{FF2B5EF4-FFF2-40B4-BE49-F238E27FC236}">
                      <a16:creationId xmlns:a16="http://schemas.microsoft.com/office/drawing/2014/main" id="{8887B6ED-62E2-3383-67F0-CD2A38174E1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549887" y="2749560"/>
                  <a:ext cx="415562" cy="79841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r>
                    <a:rPr lang="en-GB" sz="2000" dirty="0">
                      <a:latin typeface="나눔스퀘어_ac Light" panose="020B0600000101010101" pitchFamily="50" charset="-127"/>
                    </a:rPr>
                    <a:t>II</a:t>
                  </a:r>
                </a:p>
              </p:txBody>
            </p: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077F0E65-A619-BF56-7BAA-6F5932F2DF69}"/>
                    </a:ext>
                  </a:extLst>
                </p:cNvPr>
                <p:cNvGrpSpPr/>
                <p:nvPr/>
              </p:nvGrpSpPr>
              <p:grpSpPr>
                <a:xfrm>
                  <a:off x="1098537" y="1928885"/>
                  <a:ext cx="5722393" cy="3575897"/>
                  <a:chOff x="1246818" y="1821336"/>
                  <a:chExt cx="7242443" cy="4525770"/>
                </a:xfrm>
              </p:grpSpPr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115D1592-BC4F-2ECF-298E-A87BE63430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67318" y="3928706"/>
                    <a:ext cx="156964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4" name="Group 73">
                    <a:extLst>
                      <a:ext uri="{FF2B5EF4-FFF2-40B4-BE49-F238E27FC236}">
                        <a16:creationId xmlns:a16="http://schemas.microsoft.com/office/drawing/2014/main" id="{C0F8532E-CAE6-B67F-B78B-7CD4BB18E7EE}"/>
                      </a:ext>
                    </a:extLst>
                  </p:cNvPr>
                  <p:cNvGrpSpPr/>
                  <p:nvPr/>
                </p:nvGrpSpPr>
                <p:grpSpPr>
                  <a:xfrm>
                    <a:off x="1246818" y="1821336"/>
                    <a:ext cx="7242443" cy="4525770"/>
                    <a:chOff x="1246818" y="1821336"/>
                    <a:chExt cx="7242443" cy="4525770"/>
                  </a:xfrm>
                </p:grpSpPr>
                <p:cxnSp>
                  <p:nvCxnSpPr>
                    <p:cNvPr id="75" name="Straight Connector 74">
                      <a:extLst>
                        <a:ext uri="{FF2B5EF4-FFF2-40B4-BE49-F238E27FC236}">
                          <a16:creationId xmlns:a16="http://schemas.microsoft.com/office/drawing/2014/main" id="{0BB284F5-9906-BDAD-C47B-C9D4B22185D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26866" y="4718282"/>
                      <a:ext cx="1794817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76" name="Group 75">
                      <a:extLst>
                        <a:ext uri="{FF2B5EF4-FFF2-40B4-BE49-F238E27FC236}">
                          <a16:creationId xmlns:a16="http://schemas.microsoft.com/office/drawing/2014/main" id="{FA616366-D9AB-1C4D-C04F-3081BC832D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46818" y="1821336"/>
                      <a:ext cx="7242443" cy="4525770"/>
                      <a:chOff x="1246818" y="1821336"/>
                      <a:chExt cx="7242443" cy="4525770"/>
                    </a:xfrm>
                  </p:grpSpPr>
                  <p:sp>
                    <p:nvSpPr>
                      <p:cNvPr id="77" name="Rectangle 76">
                        <a:extLst>
                          <a:ext uri="{FF2B5EF4-FFF2-40B4-BE49-F238E27FC236}">
                            <a16:creationId xmlns:a16="http://schemas.microsoft.com/office/drawing/2014/main" id="{E840EE5C-3AA9-D6FB-FA27-AD1081F8BE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02494" y="4442599"/>
                        <a:ext cx="515564" cy="515810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09CB66CA-0357-4F6D-46D4-964652B55D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91615" y="4439083"/>
                        <a:ext cx="515566" cy="51556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GB" dirty="0">
                            <a:latin typeface="나눔스퀘어_ac Light" panose="020B0600000101010101" pitchFamily="50" charset="-127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79" name="Rectangle 78">
                        <a:extLst>
                          <a:ext uri="{FF2B5EF4-FFF2-40B4-BE49-F238E27FC236}">
                            <a16:creationId xmlns:a16="http://schemas.microsoft.com/office/drawing/2014/main" id="{00F01DE8-4B13-A934-8128-6E7B31C35D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057" y="4439083"/>
                        <a:ext cx="515566" cy="515566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0" name="Oval 79">
                        <a:extLst>
                          <a:ext uri="{FF2B5EF4-FFF2-40B4-BE49-F238E27FC236}">
                            <a16:creationId xmlns:a16="http://schemas.microsoft.com/office/drawing/2014/main" id="{311BAED0-4906-4BE5-D5B1-23F35CB95D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24440" y="4460499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1" name="Oval 80">
                        <a:extLst>
                          <a:ext uri="{FF2B5EF4-FFF2-40B4-BE49-F238E27FC236}">
                            <a16:creationId xmlns:a16="http://schemas.microsoft.com/office/drawing/2014/main" id="{264CDD53-B360-89F5-C892-F49BDF2400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02405" y="4466626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2" name="Rectangle 81">
                        <a:extLst>
                          <a:ext uri="{FF2B5EF4-FFF2-40B4-BE49-F238E27FC236}">
                            <a16:creationId xmlns:a16="http://schemas.microsoft.com/office/drawing/2014/main" id="{01832860-1495-E35D-D202-4A9614C48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73695" y="4453440"/>
                        <a:ext cx="515566" cy="51556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GB" dirty="0">
                            <a:latin typeface="나눔스퀘어_ac Light" panose="020B0600000101010101" pitchFamily="50" charset="-127"/>
                          </a:rPr>
                          <a:t>2</a:t>
                        </a:r>
                      </a:p>
                    </p:txBody>
                  </p:sp>
                  <p:sp>
                    <p:nvSpPr>
                      <p:cNvPr id="83" name="Oval 82">
                        <a:extLst>
                          <a:ext uri="{FF2B5EF4-FFF2-40B4-BE49-F238E27FC236}">
                            <a16:creationId xmlns:a16="http://schemas.microsoft.com/office/drawing/2014/main" id="{974C1E18-D3E5-53DE-F06E-509FE4CCE3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3102" y="5815782"/>
                        <a:ext cx="515566" cy="51556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GB" dirty="0">
                            <a:latin typeface="나눔스퀘어_ac Light" panose="020B0600000101010101" pitchFamily="50" charset="-127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84" name="Oval 83">
                        <a:extLst>
                          <a:ext uri="{FF2B5EF4-FFF2-40B4-BE49-F238E27FC236}">
                            <a16:creationId xmlns:a16="http://schemas.microsoft.com/office/drawing/2014/main" id="{0BE2CD87-8114-3D00-E89D-DCBF9BFD17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3439" y="5831540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cxnSp>
                    <p:nvCxnSpPr>
                      <p:cNvPr id="85" name="Straight Connector 84">
                        <a:extLst>
                          <a:ext uri="{FF2B5EF4-FFF2-40B4-BE49-F238E27FC236}">
                            <a16:creationId xmlns:a16="http://schemas.microsoft.com/office/drawing/2014/main" id="{B45BDDDA-1C2B-814D-43DC-11572B55B53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054969" y="3373147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" name="Straight Connector 85">
                        <a:extLst>
                          <a:ext uri="{FF2B5EF4-FFF2-40B4-BE49-F238E27FC236}">
                            <a16:creationId xmlns:a16="http://schemas.microsoft.com/office/drawing/2014/main" id="{A8978A15-EDAE-D070-F065-4894166FA71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556366" y="3904471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Straight Connector 86">
                        <a:extLst>
                          <a:ext uri="{FF2B5EF4-FFF2-40B4-BE49-F238E27FC236}">
                            <a16:creationId xmlns:a16="http://schemas.microsoft.com/office/drawing/2014/main" id="{FE377C50-6D9D-A0CF-F3B2-32B4927D3CB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90481" y="3904471"/>
                        <a:ext cx="956554" cy="680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Straight Connector 87">
                        <a:extLst>
                          <a:ext uri="{FF2B5EF4-FFF2-40B4-BE49-F238E27FC236}">
                            <a16:creationId xmlns:a16="http://schemas.microsoft.com/office/drawing/2014/main" id="{43E14D0D-2F0F-B490-0489-151F79D31D9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968640" y="3379023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9" name="Straight Connector 88">
                        <a:extLst>
                          <a:ext uri="{FF2B5EF4-FFF2-40B4-BE49-F238E27FC236}">
                            <a16:creationId xmlns:a16="http://schemas.microsoft.com/office/drawing/2014/main" id="{41F738B2-D5A1-EC28-9A1E-D0EFAD2B371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549398" y="3907759"/>
                        <a:ext cx="82244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0" name="Straight Connector 89">
                        <a:extLst>
                          <a:ext uri="{FF2B5EF4-FFF2-40B4-BE49-F238E27FC236}">
                            <a16:creationId xmlns:a16="http://schemas.microsoft.com/office/drawing/2014/main" id="{FD109B76-D43E-F40A-E95A-DD50D68F01C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549398" y="3907759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1" name="Straight Connector 90">
                        <a:extLst>
                          <a:ext uri="{FF2B5EF4-FFF2-40B4-BE49-F238E27FC236}">
                            <a16:creationId xmlns:a16="http://schemas.microsoft.com/office/drawing/2014/main" id="{E034B7F8-D8C3-B0A8-0F08-16E54962DFA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374620" y="3900763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2" name="Straight Connector 91">
                        <a:extLst>
                          <a:ext uri="{FF2B5EF4-FFF2-40B4-BE49-F238E27FC236}">
                            <a16:creationId xmlns:a16="http://schemas.microsoft.com/office/drawing/2014/main" id="{9E418661-868C-04FC-B804-3025A502C33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674342" y="3926512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3" name="Straight Connector 92">
                        <a:extLst>
                          <a:ext uri="{FF2B5EF4-FFF2-40B4-BE49-F238E27FC236}">
                            <a16:creationId xmlns:a16="http://schemas.microsoft.com/office/drawing/2014/main" id="{A0AE82FA-4EF6-4496-7848-C6EF67F005C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452139" y="3935878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" name="Straight Connector 93">
                        <a:extLst>
                          <a:ext uri="{FF2B5EF4-FFF2-40B4-BE49-F238E27FC236}">
                            <a16:creationId xmlns:a16="http://schemas.microsoft.com/office/drawing/2014/main" id="{A6E20576-2590-5E38-F1FE-0D79645A919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234377" y="3935302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5" name="Straight Connector 94">
                        <a:extLst>
                          <a:ext uri="{FF2B5EF4-FFF2-40B4-BE49-F238E27FC236}">
                            <a16:creationId xmlns:a16="http://schemas.microsoft.com/office/drawing/2014/main" id="{940D6921-E1F0-DA6D-471F-2AC652F3FC9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629623" y="4758907"/>
                        <a:ext cx="1807106" cy="624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" name="Straight Connector 95">
                        <a:extLst>
                          <a:ext uri="{FF2B5EF4-FFF2-40B4-BE49-F238E27FC236}">
                            <a16:creationId xmlns:a16="http://schemas.microsoft.com/office/drawing/2014/main" id="{FE3D1F4A-759F-1C9D-A091-10BCB577AD4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581054" y="4765351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Straight Connector 96">
                        <a:extLst>
                          <a:ext uri="{FF2B5EF4-FFF2-40B4-BE49-F238E27FC236}">
                            <a16:creationId xmlns:a16="http://schemas.microsoft.com/office/drawing/2014/main" id="{FA2FC194-B4D6-017C-FF42-6B9FEF6A09C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91222" y="5296675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8" name="Straight Connector 97">
                        <a:extLst>
                          <a:ext uri="{FF2B5EF4-FFF2-40B4-BE49-F238E27FC236}">
                            <a16:creationId xmlns:a16="http://schemas.microsoft.com/office/drawing/2014/main" id="{E619BA65-AE18-B3F3-B21F-64C0EF2404D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84078" y="5296675"/>
                        <a:ext cx="1193951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9" name="Straight Connector 98">
                        <a:extLst>
                          <a:ext uri="{FF2B5EF4-FFF2-40B4-BE49-F238E27FC236}">
                            <a16:creationId xmlns:a16="http://schemas.microsoft.com/office/drawing/2014/main" id="{9B780174-2D5B-7786-9F64-F6EB94BEBEA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179850" y="5298496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0" name="Straight Connector 99">
                        <a:extLst>
                          <a:ext uri="{FF2B5EF4-FFF2-40B4-BE49-F238E27FC236}">
                            <a16:creationId xmlns:a16="http://schemas.microsoft.com/office/drawing/2014/main" id="{90D78633-BBE1-EE65-1E7B-D5F3716A8F2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99812" y="3911275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1" name="Rectangle 100">
                        <a:extLst>
                          <a:ext uri="{FF2B5EF4-FFF2-40B4-BE49-F238E27FC236}">
                            <a16:creationId xmlns:a16="http://schemas.microsoft.com/office/drawing/2014/main" id="{D1FDC237-014A-6DD2-5EE6-E68DAC513D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54934" y="4442843"/>
                        <a:ext cx="515566" cy="515566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grpSp>
                    <p:nvGrpSpPr>
                      <p:cNvPr id="102" name="Group 101">
                        <a:extLst>
                          <a:ext uri="{FF2B5EF4-FFF2-40B4-BE49-F238E27FC236}">
                            <a16:creationId xmlns:a16="http://schemas.microsoft.com/office/drawing/2014/main" id="{AD045608-0361-E718-7DE5-E3B4A2FA665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46818" y="1821336"/>
                        <a:ext cx="7129263" cy="2106004"/>
                        <a:chOff x="1246818" y="1821336"/>
                        <a:chExt cx="7129263" cy="2106004"/>
                      </a:xfrm>
                    </p:grpSpPr>
                    <p:sp>
                      <p:nvSpPr>
                        <p:cNvPr id="103" name="Oval 102">
                          <a:extLst>
                            <a:ext uri="{FF2B5EF4-FFF2-40B4-BE49-F238E27FC236}">
                              <a16:creationId xmlns:a16="http://schemas.microsoft.com/office/drawing/2014/main" id="{2ADF586B-C6D2-0040-C60D-6646779B730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47750" y="3152703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4" name="Oval 103">
                          <a:extLst>
                            <a:ext uri="{FF2B5EF4-FFF2-40B4-BE49-F238E27FC236}">
                              <a16:creationId xmlns:a16="http://schemas.microsoft.com/office/drawing/2014/main" id="{59DDA8B6-17AB-7724-F7F7-7F047819FB2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60068" y="3145728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  <a:latin typeface="나눔스퀘어_ac Light" panose="020B0600000101010101" pitchFamily="50" charset="-127"/>
                            </a:rPr>
                            <a:t>B</a:t>
                          </a:r>
                        </a:p>
                      </p:txBody>
                    </p:sp>
                    <p:sp>
                      <p:nvSpPr>
                        <p:cNvPr id="105" name="Oval 104">
                          <a:extLst>
                            <a:ext uri="{FF2B5EF4-FFF2-40B4-BE49-F238E27FC236}">
                              <a16:creationId xmlns:a16="http://schemas.microsoft.com/office/drawing/2014/main" id="{CFA0ADFC-D4B0-C24E-A1DB-E0DE3F5945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30694" y="3144170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6" name="Rectangle 105">
                          <a:extLst>
                            <a:ext uri="{FF2B5EF4-FFF2-40B4-BE49-F238E27FC236}">
                              <a16:creationId xmlns:a16="http://schemas.microsoft.com/office/drawing/2014/main" id="{BF4180BF-E17E-AEAE-0D23-F2F3BAB1A2D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46818" y="3165416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7" name="Oval 106">
                          <a:extLst>
                            <a:ext uri="{FF2B5EF4-FFF2-40B4-BE49-F238E27FC236}">
                              <a16:creationId xmlns:a16="http://schemas.microsoft.com/office/drawing/2014/main" id="{A0C65E44-0B48-B707-11CF-F453F5B91EC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32754" y="3130437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8" name="Rectangle 107">
                          <a:extLst>
                            <a:ext uri="{FF2B5EF4-FFF2-40B4-BE49-F238E27FC236}">
                              <a16:creationId xmlns:a16="http://schemas.microsoft.com/office/drawing/2014/main" id="{B5A42F7E-B537-6EC8-F51F-A1022E0EDC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860515" y="3139001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cxnSp>
                      <p:nvCxnSpPr>
                        <p:cNvPr id="109" name="Straight Connector 108">
                          <a:extLst>
                            <a:ext uri="{FF2B5EF4-FFF2-40B4-BE49-F238E27FC236}">
                              <a16:creationId xmlns:a16="http://schemas.microsoft.com/office/drawing/2014/main" id="{3D51A12A-B4AE-1E9F-D372-6E5DC12F3AF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584169" y="2604397"/>
                          <a:ext cx="4438980" cy="734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10" name="Group 109">
                          <a:extLst>
                            <a:ext uri="{FF2B5EF4-FFF2-40B4-BE49-F238E27FC236}">
                              <a16:creationId xmlns:a16="http://schemas.microsoft.com/office/drawing/2014/main" id="{3E2A012A-DBF5-1F5A-C757-4481F2F3E12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284890" y="1821336"/>
                          <a:ext cx="1616498" cy="783061"/>
                          <a:chOff x="3284890" y="1821336"/>
                          <a:chExt cx="1616498" cy="783061"/>
                        </a:xfrm>
                      </p:grpSpPr>
                      <p:sp>
                        <p:nvSpPr>
                          <p:cNvPr id="122" name="Rectangle 121">
                            <a:extLst>
                              <a:ext uri="{FF2B5EF4-FFF2-40B4-BE49-F238E27FC236}">
                                <a16:creationId xmlns:a16="http://schemas.microsoft.com/office/drawing/2014/main" id="{38E3A22D-43BE-551B-9319-1C120036E0A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284890" y="1821336"/>
                            <a:ext cx="515566" cy="515566"/>
                          </a:xfrm>
                          <a:prstGeom prst="rect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dirty="0">
                              <a:latin typeface="나눔스퀘어_ac Light" panose="020B0600000101010101" pitchFamily="50" charset="-127"/>
                            </a:endParaRPr>
                          </a:p>
                        </p:txBody>
                      </p:sp>
                      <p:sp>
                        <p:nvSpPr>
                          <p:cNvPr id="123" name="Oval 122">
                            <a:extLst>
                              <a:ext uri="{FF2B5EF4-FFF2-40B4-BE49-F238E27FC236}">
                                <a16:creationId xmlns:a16="http://schemas.microsoft.com/office/drawing/2014/main" id="{54841564-267C-D3B9-91B0-B9113B15619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385822" y="1821336"/>
                            <a:ext cx="515566" cy="515566"/>
                          </a:xfrm>
                          <a:prstGeom prst="ellipse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dirty="0">
                              <a:latin typeface="나눔스퀘어_ac Light" panose="020B0600000101010101" pitchFamily="50" charset="-127"/>
                            </a:endParaRPr>
                          </a:p>
                        </p:txBody>
                      </p:sp>
                      <p:cxnSp>
                        <p:nvCxnSpPr>
                          <p:cNvPr id="124" name="Straight Connector 123">
                            <a:extLst>
                              <a:ext uri="{FF2B5EF4-FFF2-40B4-BE49-F238E27FC236}">
                                <a16:creationId xmlns:a16="http://schemas.microsoft.com/office/drawing/2014/main" id="{D614224B-D205-50C5-A7E9-526391DCC426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108496" y="2073073"/>
                            <a:ext cx="0" cy="531324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111" name="Straight Connector 110">
                          <a:extLst>
                            <a:ext uri="{FF2B5EF4-FFF2-40B4-BE49-F238E27FC236}">
                              <a16:creationId xmlns:a16="http://schemas.microsoft.com/office/drawing/2014/main" id="{F7DCD539-B068-2F27-5B07-5EF3CFACE5A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593673" y="2611741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2" name="Straight Connector 111">
                          <a:extLst>
                            <a:ext uri="{FF2B5EF4-FFF2-40B4-BE49-F238E27FC236}">
                              <a16:creationId xmlns:a16="http://schemas.microsoft.com/office/drawing/2014/main" id="{DA571349-5109-9342-B5A9-0C47AF3A69C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198729" y="2605808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3" name="Straight Connector 112">
                          <a:extLst>
                            <a:ext uri="{FF2B5EF4-FFF2-40B4-BE49-F238E27FC236}">
                              <a16:creationId xmlns:a16="http://schemas.microsoft.com/office/drawing/2014/main" id="{F0971A35-54B6-C629-CE9C-0A365BC9D1C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023149" y="2605395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4" name="Straight Connector 113">
                          <a:extLst>
                            <a:ext uri="{FF2B5EF4-FFF2-40B4-BE49-F238E27FC236}">
                              <a16:creationId xmlns:a16="http://schemas.microsoft.com/office/drawing/2014/main" id="{318A20F8-F949-5E74-F184-171F392AF9F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279083" y="3404373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5" name="Straight Connector 114">
                          <a:extLst>
                            <a:ext uri="{FF2B5EF4-FFF2-40B4-BE49-F238E27FC236}">
                              <a16:creationId xmlns:a16="http://schemas.microsoft.com/office/drawing/2014/main" id="{B35D9F2C-4EE4-7A74-6A3F-619954C1131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576309" y="3396016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6" name="Straight Connector 115">
                          <a:extLst>
                            <a:ext uri="{FF2B5EF4-FFF2-40B4-BE49-F238E27FC236}">
                              <a16:creationId xmlns:a16="http://schemas.microsoft.com/office/drawing/2014/main" id="{8C8CA490-0A6A-8A47-692D-50DF0222889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759872" y="3365256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17" name="Rectangle 116">
                          <a:extLst>
                            <a:ext uri="{FF2B5EF4-FFF2-40B4-BE49-F238E27FC236}">
                              <a16:creationId xmlns:a16="http://schemas.microsoft.com/office/drawing/2014/main" id="{7985532A-0455-33A8-D8CF-A2F2CD0BB11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129769" y="3156146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  <a:latin typeface="나눔스퀘어_ac Light" panose="020B0600000101010101" pitchFamily="50" charset="-127"/>
                            </a:rPr>
                            <a:t>A</a:t>
                          </a:r>
                        </a:p>
                      </p:txBody>
                    </p:sp>
                    <p:cxnSp>
                      <p:nvCxnSpPr>
                        <p:cNvPr id="118" name="Straight Connector 117">
                          <a:extLst>
                            <a:ext uri="{FF2B5EF4-FFF2-40B4-BE49-F238E27FC236}">
                              <a16:creationId xmlns:a16="http://schemas.microsoft.com/office/drawing/2014/main" id="{45F6C8CD-4671-EEEB-6A64-5274AB21B6A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384857" y="2614655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19" name="Rectangle 118">
                          <a:extLst>
                            <a:ext uri="{FF2B5EF4-FFF2-40B4-BE49-F238E27FC236}">
                              <a16:creationId xmlns:a16="http://schemas.microsoft.com/office/drawing/2014/main" id="{8BDFB579-98D6-E87F-A3C0-E034CBC2271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38481" y="3150614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cxnSp>
                      <p:nvCxnSpPr>
                        <p:cNvPr id="120" name="Straight Connector 119">
                          <a:extLst>
                            <a:ext uri="{FF2B5EF4-FFF2-40B4-BE49-F238E27FC236}">
                              <a16:creationId xmlns:a16="http://schemas.microsoft.com/office/drawing/2014/main" id="{F3ABD1A5-B806-D26C-F651-422871FAB16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398596" y="2609596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1" name="Straight Connector 120">
                          <a:extLst>
                            <a:ext uri="{FF2B5EF4-FFF2-40B4-BE49-F238E27FC236}">
                              <a16:creationId xmlns:a16="http://schemas.microsoft.com/office/drawing/2014/main" id="{B967AC8D-2C6B-6720-DE82-87532FBF996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49365" y="3380765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</p:grpSp>
          </p:grpSp>
        </p:grpSp>
      </p:grpSp>
      <p:sp>
        <p:nvSpPr>
          <p:cNvPr id="125" name="Title 1">
            <a:extLst>
              <a:ext uri="{FF2B5EF4-FFF2-40B4-BE49-F238E27FC236}">
                <a16:creationId xmlns:a16="http://schemas.microsoft.com/office/drawing/2014/main" id="{7C84AAF2-66E9-668C-43B6-9F39E3665AB7}"/>
              </a:ext>
            </a:extLst>
          </p:cNvPr>
          <p:cNvSpPr txBox="1">
            <a:spLocks/>
          </p:cNvSpPr>
          <p:nvPr/>
        </p:nvSpPr>
        <p:spPr>
          <a:xfrm>
            <a:off x="907463" y="1862296"/>
            <a:ext cx="4996809" cy="855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sz="2800" dirty="0"/>
              <a:t>If: Autosomal Dominance</a:t>
            </a:r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790BFAFA-39DA-454E-49C4-CE738E15B978}"/>
              </a:ext>
            </a:extLst>
          </p:cNvPr>
          <p:cNvSpPr txBox="1">
            <a:spLocks/>
          </p:cNvSpPr>
          <p:nvPr/>
        </p:nvSpPr>
        <p:spPr>
          <a:xfrm>
            <a:off x="7233475" y="2606044"/>
            <a:ext cx="4450455" cy="855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sz="2400" dirty="0"/>
              <a:t>·Individual 1, 2, 3 – Impossible </a:t>
            </a:r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76A3377B-0A7B-6164-8267-5DF10BD16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551" y="654291"/>
            <a:ext cx="6052261" cy="1325563"/>
          </a:xfrm>
        </p:spPr>
        <p:txBody>
          <a:bodyPr/>
          <a:lstStyle/>
          <a:p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Mode of Inheritance</a:t>
            </a:r>
          </a:p>
        </p:txBody>
      </p:sp>
    </p:spTree>
    <p:extLst>
      <p:ext uri="{BB962C8B-B14F-4D97-AF65-F5344CB8AC3E}">
        <p14:creationId xmlns:p14="http://schemas.microsoft.com/office/powerpoint/2010/main" val="144277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88"/>
    </mc:Choice>
    <mc:Fallback xmlns="">
      <p:transition spd="slow" advTm="508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5CC8F-A085-07F2-651E-4563D53F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614C295-7A43-7153-5C3E-35CD4C0CF549}"/>
              </a:ext>
            </a:extLst>
          </p:cNvPr>
          <p:cNvCxnSpPr>
            <a:cxnSpLocks/>
          </p:cNvCxnSpPr>
          <p:nvPr/>
        </p:nvCxnSpPr>
        <p:spPr>
          <a:xfrm>
            <a:off x="0" y="1671965"/>
            <a:ext cx="691008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9E41297-D5A3-2745-A612-BAE96B678FB9}"/>
              </a:ext>
            </a:extLst>
          </p:cNvPr>
          <p:cNvGrpSpPr/>
          <p:nvPr/>
        </p:nvGrpSpPr>
        <p:grpSpPr>
          <a:xfrm>
            <a:off x="1099595" y="2722240"/>
            <a:ext cx="5432032" cy="3102017"/>
            <a:chOff x="2319822" y="1979854"/>
            <a:chExt cx="6955005" cy="397172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9CDBAFC-30C2-7470-39C0-D79543FA5142}"/>
                </a:ext>
              </a:extLst>
            </p:cNvPr>
            <p:cNvCxnSpPr>
              <a:cxnSpLocks/>
              <a:stCxn id="122" idx="3"/>
              <a:endCxn id="123" idx="2"/>
            </p:cNvCxnSpPr>
            <p:nvPr/>
          </p:nvCxnSpPr>
          <p:spPr>
            <a:xfrm>
              <a:off x="4337501" y="2383837"/>
              <a:ext cx="46250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F4F221F-B4A7-B8B2-297F-07EB68408CB4}"/>
                </a:ext>
              </a:extLst>
            </p:cNvPr>
            <p:cNvGrpSpPr/>
            <p:nvPr/>
          </p:nvGrpSpPr>
          <p:grpSpPr>
            <a:xfrm>
              <a:off x="2319822" y="1979854"/>
              <a:ext cx="6955005" cy="3971726"/>
              <a:chOff x="1098537" y="1728581"/>
              <a:chExt cx="6955005" cy="3971726"/>
            </a:xfrm>
          </p:grpSpPr>
          <p:sp>
            <p:nvSpPr>
              <p:cNvPr id="67" name="Title 1">
                <a:extLst>
                  <a:ext uri="{FF2B5EF4-FFF2-40B4-BE49-F238E27FC236}">
                    <a16:creationId xmlns:a16="http://schemas.microsoft.com/office/drawing/2014/main" id="{2537A05D-9089-9B01-AA7B-9DBCE2D654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9476" y="1728581"/>
                <a:ext cx="271488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</a:t>
                </a:r>
              </a:p>
            </p:txBody>
          </p:sp>
          <p:sp>
            <p:nvSpPr>
              <p:cNvPr id="68" name="Title 1">
                <a:extLst>
                  <a:ext uri="{FF2B5EF4-FFF2-40B4-BE49-F238E27FC236}">
                    <a16:creationId xmlns:a16="http://schemas.microsoft.com/office/drawing/2014/main" id="{4A630575-06D0-E0B3-E5E9-C72F7BEC90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7976" y="3851327"/>
                <a:ext cx="515566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III</a:t>
                </a:r>
              </a:p>
            </p:txBody>
          </p:sp>
          <p:sp>
            <p:nvSpPr>
              <p:cNvPr id="69" name="Title 1">
                <a:extLst>
                  <a:ext uri="{FF2B5EF4-FFF2-40B4-BE49-F238E27FC236}">
                    <a16:creationId xmlns:a16="http://schemas.microsoft.com/office/drawing/2014/main" id="{C9DB8487-2123-C3D5-9F55-2B5133A33E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7976" y="4901896"/>
                <a:ext cx="515566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IV</a:t>
                </a: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C8DC68DE-C49D-41EF-EB25-A2BB2332BDDC}"/>
                  </a:ext>
                </a:extLst>
              </p:cNvPr>
              <p:cNvGrpSpPr/>
              <p:nvPr/>
            </p:nvGrpSpPr>
            <p:grpSpPr>
              <a:xfrm>
                <a:off x="1098537" y="1928885"/>
                <a:ext cx="6866912" cy="3575897"/>
                <a:chOff x="1098537" y="1928885"/>
                <a:chExt cx="6866912" cy="3575897"/>
              </a:xfrm>
            </p:grpSpPr>
            <p:sp>
              <p:nvSpPr>
                <p:cNvPr id="71" name="Title 1">
                  <a:extLst>
                    <a:ext uri="{FF2B5EF4-FFF2-40B4-BE49-F238E27FC236}">
                      <a16:creationId xmlns:a16="http://schemas.microsoft.com/office/drawing/2014/main" id="{45F6D0B3-0C56-3172-918B-336E06E290F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549887" y="2749560"/>
                  <a:ext cx="415562" cy="79841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r>
                    <a:rPr lang="en-GB" sz="2000" dirty="0">
                      <a:latin typeface="나눔스퀘어_ac Light" panose="020B0600000101010101" pitchFamily="50" charset="-127"/>
                    </a:rPr>
                    <a:t>II</a:t>
                  </a:r>
                </a:p>
              </p:txBody>
            </p: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81D184AA-205B-3C53-1E4A-897C79D8FDCA}"/>
                    </a:ext>
                  </a:extLst>
                </p:cNvPr>
                <p:cNvGrpSpPr/>
                <p:nvPr/>
              </p:nvGrpSpPr>
              <p:grpSpPr>
                <a:xfrm>
                  <a:off x="1098537" y="1928885"/>
                  <a:ext cx="5722393" cy="3575897"/>
                  <a:chOff x="1246818" y="1821336"/>
                  <a:chExt cx="7242443" cy="4525770"/>
                </a:xfrm>
              </p:grpSpPr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5C358401-7DA3-923A-B6C4-92B1ED1812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67318" y="3928706"/>
                    <a:ext cx="156964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4" name="Group 73">
                    <a:extLst>
                      <a:ext uri="{FF2B5EF4-FFF2-40B4-BE49-F238E27FC236}">
                        <a16:creationId xmlns:a16="http://schemas.microsoft.com/office/drawing/2014/main" id="{971DFF0E-8AB6-5307-4361-0ECA73AC46C6}"/>
                      </a:ext>
                    </a:extLst>
                  </p:cNvPr>
                  <p:cNvGrpSpPr/>
                  <p:nvPr/>
                </p:nvGrpSpPr>
                <p:grpSpPr>
                  <a:xfrm>
                    <a:off x="1246818" y="1821336"/>
                    <a:ext cx="7242443" cy="4525770"/>
                    <a:chOff x="1246818" y="1821336"/>
                    <a:chExt cx="7242443" cy="4525770"/>
                  </a:xfrm>
                </p:grpSpPr>
                <p:cxnSp>
                  <p:nvCxnSpPr>
                    <p:cNvPr id="75" name="Straight Connector 74">
                      <a:extLst>
                        <a:ext uri="{FF2B5EF4-FFF2-40B4-BE49-F238E27FC236}">
                          <a16:creationId xmlns:a16="http://schemas.microsoft.com/office/drawing/2014/main" id="{49E8E053-EBD3-E68A-1921-BB16A02CEB9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26866" y="4718282"/>
                      <a:ext cx="1794817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76" name="Group 75">
                      <a:extLst>
                        <a:ext uri="{FF2B5EF4-FFF2-40B4-BE49-F238E27FC236}">
                          <a16:creationId xmlns:a16="http://schemas.microsoft.com/office/drawing/2014/main" id="{6DDCA5EF-494C-29B9-5829-3F80AAC4D9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46818" y="1821336"/>
                      <a:ext cx="7242443" cy="4525770"/>
                      <a:chOff x="1246818" y="1821336"/>
                      <a:chExt cx="7242443" cy="4525770"/>
                    </a:xfrm>
                  </p:grpSpPr>
                  <p:sp>
                    <p:nvSpPr>
                      <p:cNvPr id="77" name="Rectangle 76">
                        <a:extLst>
                          <a:ext uri="{FF2B5EF4-FFF2-40B4-BE49-F238E27FC236}">
                            <a16:creationId xmlns:a16="http://schemas.microsoft.com/office/drawing/2014/main" id="{85CF5FB1-8195-A009-FB6F-98B9C1C5C8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02494" y="4442599"/>
                        <a:ext cx="515564" cy="515810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EACA526C-37E7-3038-4C8B-E35F53327A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91615" y="4439083"/>
                        <a:ext cx="515566" cy="51556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GB" dirty="0">
                            <a:latin typeface="나눔스퀘어_ac Light" panose="020B0600000101010101" pitchFamily="50" charset="-127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79" name="Rectangle 78">
                        <a:extLst>
                          <a:ext uri="{FF2B5EF4-FFF2-40B4-BE49-F238E27FC236}">
                            <a16:creationId xmlns:a16="http://schemas.microsoft.com/office/drawing/2014/main" id="{6CB4FB7C-E1A0-F13F-CDFA-0D3622692A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057" y="4439083"/>
                        <a:ext cx="515566" cy="515566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0" name="Oval 79">
                        <a:extLst>
                          <a:ext uri="{FF2B5EF4-FFF2-40B4-BE49-F238E27FC236}">
                            <a16:creationId xmlns:a16="http://schemas.microsoft.com/office/drawing/2014/main" id="{2A11F35A-D884-24CC-F848-2FD684E41F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24440" y="4460499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1" name="Oval 80">
                        <a:extLst>
                          <a:ext uri="{FF2B5EF4-FFF2-40B4-BE49-F238E27FC236}">
                            <a16:creationId xmlns:a16="http://schemas.microsoft.com/office/drawing/2014/main" id="{B9CC63CC-EA41-38F4-311A-28554047B6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02405" y="4466626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2" name="Rectangle 81">
                        <a:extLst>
                          <a:ext uri="{FF2B5EF4-FFF2-40B4-BE49-F238E27FC236}">
                            <a16:creationId xmlns:a16="http://schemas.microsoft.com/office/drawing/2014/main" id="{9AC9388E-2B4F-2F9F-B4B0-22BD637A3D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73695" y="4453440"/>
                        <a:ext cx="515566" cy="51556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3" name="Oval 82">
                        <a:extLst>
                          <a:ext uri="{FF2B5EF4-FFF2-40B4-BE49-F238E27FC236}">
                            <a16:creationId xmlns:a16="http://schemas.microsoft.com/office/drawing/2014/main" id="{7AFEDDBD-9540-0423-5403-5AD0D31087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3102" y="5815782"/>
                        <a:ext cx="515566" cy="51556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GB" dirty="0">
                            <a:latin typeface="나눔스퀘어_ac Light" panose="020B0600000101010101" pitchFamily="50" charset="-127"/>
                          </a:rPr>
                          <a:t>2</a:t>
                        </a:r>
                      </a:p>
                    </p:txBody>
                  </p:sp>
                  <p:sp>
                    <p:nvSpPr>
                      <p:cNvPr id="84" name="Oval 83">
                        <a:extLst>
                          <a:ext uri="{FF2B5EF4-FFF2-40B4-BE49-F238E27FC236}">
                            <a16:creationId xmlns:a16="http://schemas.microsoft.com/office/drawing/2014/main" id="{183151F7-FCB3-7652-1298-65225D0033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3439" y="5831540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cxnSp>
                    <p:nvCxnSpPr>
                      <p:cNvPr id="85" name="Straight Connector 84">
                        <a:extLst>
                          <a:ext uri="{FF2B5EF4-FFF2-40B4-BE49-F238E27FC236}">
                            <a16:creationId xmlns:a16="http://schemas.microsoft.com/office/drawing/2014/main" id="{288323AC-D05D-2223-CA44-61A3BB24DFF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054969" y="3373147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" name="Straight Connector 85">
                        <a:extLst>
                          <a:ext uri="{FF2B5EF4-FFF2-40B4-BE49-F238E27FC236}">
                            <a16:creationId xmlns:a16="http://schemas.microsoft.com/office/drawing/2014/main" id="{1ACB8898-8E4F-919E-2AD6-9825875C17D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556366" y="3904471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Straight Connector 86">
                        <a:extLst>
                          <a:ext uri="{FF2B5EF4-FFF2-40B4-BE49-F238E27FC236}">
                            <a16:creationId xmlns:a16="http://schemas.microsoft.com/office/drawing/2014/main" id="{3ED2F6A5-B35E-B531-DD9E-6A54ED19EA6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90481" y="3904471"/>
                        <a:ext cx="956554" cy="680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Straight Connector 87">
                        <a:extLst>
                          <a:ext uri="{FF2B5EF4-FFF2-40B4-BE49-F238E27FC236}">
                            <a16:creationId xmlns:a16="http://schemas.microsoft.com/office/drawing/2014/main" id="{D8ACDE19-6EC5-FFD4-7930-0A45FE77793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968640" y="3379023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9" name="Straight Connector 88">
                        <a:extLst>
                          <a:ext uri="{FF2B5EF4-FFF2-40B4-BE49-F238E27FC236}">
                            <a16:creationId xmlns:a16="http://schemas.microsoft.com/office/drawing/2014/main" id="{2B60589C-911B-EF1F-C2BB-EB2E97EA659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549398" y="3907759"/>
                        <a:ext cx="82244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0" name="Straight Connector 89">
                        <a:extLst>
                          <a:ext uri="{FF2B5EF4-FFF2-40B4-BE49-F238E27FC236}">
                            <a16:creationId xmlns:a16="http://schemas.microsoft.com/office/drawing/2014/main" id="{9FA4DA07-C409-2FC1-6D61-B3A25911972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549398" y="3907759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1" name="Straight Connector 90">
                        <a:extLst>
                          <a:ext uri="{FF2B5EF4-FFF2-40B4-BE49-F238E27FC236}">
                            <a16:creationId xmlns:a16="http://schemas.microsoft.com/office/drawing/2014/main" id="{D04874BC-E34B-7E51-BD13-E5644814DEC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374620" y="3900763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2" name="Straight Connector 91">
                        <a:extLst>
                          <a:ext uri="{FF2B5EF4-FFF2-40B4-BE49-F238E27FC236}">
                            <a16:creationId xmlns:a16="http://schemas.microsoft.com/office/drawing/2014/main" id="{085A93AA-EA24-509A-98D4-92715138746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674342" y="3926512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3" name="Straight Connector 92">
                        <a:extLst>
                          <a:ext uri="{FF2B5EF4-FFF2-40B4-BE49-F238E27FC236}">
                            <a16:creationId xmlns:a16="http://schemas.microsoft.com/office/drawing/2014/main" id="{BA05FEBA-0B2F-057F-CD73-7D618E9067E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452139" y="3935878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" name="Straight Connector 93">
                        <a:extLst>
                          <a:ext uri="{FF2B5EF4-FFF2-40B4-BE49-F238E27FC236}">
                            <a16:creationId xmlns:a16="http://schemas.microsoft.com/office/drawing/2014/main" id="{E89D550B-0D97-FFD9-B74A-E406520D5C4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234377" y="3935302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5" name="Straight Connector 94">
                        <a:extLst>
                          <a:ext uri="{FF2B5EF4-FFF2-40B4-BE49-F238E27FC236}">
                            <a16:creationId xmlns:a16="http://schemas.microsoft.com/office/drawing/2014/main" id="{E7E1CAA5-9A7A-8A32-7EB5-0A9F937B548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629623" y="4758907"/>
                        <a:ext cx="1807106" cy="624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" name="Straight Connector 95">
                        <a:extLst>
                          <a:ext uri="{FF2B5EF4-FFF2-40B4-BE49-F238E27FC236}">
                            <a16:creationId xmlns:a16="http://schemas.microsoft.com/office/drawing/2014/main" id="{AB4B85A9-E535-64FA-6311-9981B645A37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581054" y="4765351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Straight Connector 96">
                        <a:extLst>
                          <a:ext uri="{FF2B5EF4-FFF2-40B4-BE49-F238E27FC236}">
                            <a16:creationId xmlns:a16="http://schemas.microsoft.com/office/drawing/2014/main" id="{B20C6866-AC24-9052-B392-607BBB9F85F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91222" y="5296675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8" name="Straight Connector 97">
                        <a:extLst>
                          <a:ext uri="{FF2B5EF4-FFF2-40B4-BE49-F238E27FC236}">
                            <a16:creationId xmlns:a16="http://schemas.microsoft.com/office/drawing/2014/main" id="{BF4380E6-FD52-A7A8-91F7-EEF879CEB88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84078" y="5296675"/>
                        <a:ext cx="1193951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9" name="Straight Connector 98">
                        <a:extLst>
                          <a:ext uri="{FF2B5EF4-FFF2-40B4-BE49-F238E27FC236}">
                            <a16:creationId xmlns:a16="http://schemas.microsoft.com/office/drawing/2014/main" id="{F9EF69B5-46E3-533F-21FF-452F4D6BE37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179850" y="5298496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0" name="Straight Connector 99">
                        <a:extLst>
                          <a:ext uri="{FF2B5EF4-FFF2-40B4-BE49-F238E27FC236}">
                            <a16:creationId xmlns:a16="http://schemas.microsoft.com/office/drawing/2014/main" id="{510D5BD4-42F6-0853-2908-E333FF8DA58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99812" y="3911275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1" name="Rectangle 100">
                        <a:extLst>
                          <a:ext uri="{FF2B5EF4-FFF2-40B4-BE49-F238E27FC236}">
                            <a16:creationId xmlns:a16="http://schemas.microsoft.com/office/drawing/2014/main" id="{5763272C-AB1D-0315-B4B5-543F374EA6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54934" y="4442843"/>
                        <a:ext cx="515566" cy="515566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grpSp>
                    <p:nvGrpSpPr>
                      <p:cNvPr id="102" name="Group 101">
                        <a:extLst>
                          <a:ext uri="{FF2B5EF4-FFF2-40B4-BE49-F238E27FC236}">
                            <a16:creationId xmlns:a16="http://schemas.microsoft.com/office/drawing/2014/main" id="{B6C846F4-BF94-F51F-EB6A-C242BE5C42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46818" y="1821336"/>
                        <a:ext cx="7129263" cy="2106004"/>
                        <a:chOff x="1246818" y="1821336"/>
                        <a:chExt cx="7129263" cy="2106004"/>
                      </a:xfrm>
                    </p:grpSpPr>
                    <p:sp>
                      <p:nvSpPr>
                        <p:cNvPr id="103" name="Oval 102">
                          <a:extLst>
                            <a:ext uri="{FF2B5EF4-FFF2-40B4-BE49-F238E27FC236}">
                              <a16:creationId xmlns:a16="http://schemas.microsoft.com/office/drawing/2014/main" id="{4ACE4F03-F355-D7DC-1D65-3EB4A53CCB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47750" y="3152703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4" name="Oval 103">
                          <a:extLst>
                            <a:ext uri="{FF2B5EF4-FFF2-40B4-BE49-F238E27FC236}">
                              <a16:creationId xmlns:a16="http://schemas.microsoft.com/office/drawing/2014/main" id="{6255176E-6B69-7CCC-EF0C-453D17624B2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60068" y="3145728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  <a:latin typeface="나눔스퀘어_ac Light" panose="020B0600000101010101" pitchFamily="50" charset="-127"/>
                            </a:rPr>
                            <a:t>B</a:t>
                          </a:r>
                        </a:p>
                      </p:txBody>
                    </p:sp>
                    <p:sp>
                      <p:nvSpPr>
                        <p:cNvPr id="105" name="Oval 104">
                          <a:extLst>
                            <a:ext uri="{FF2B5EF4-FFF2-40B4-BE49-F238E27FC236}">
                              <a16:creationId xmlns:a16="http://schemas.microsoft.com/office/drawing/2014/main" id="{8394B753-EB27-7BAC-FE83-E845D116AC1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30694" y="3144170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6" name="Rectangle 105">
                          <a:extLst>
                            <a:ext uri="{FF2B5EF4-FFF2-40B4-BE49-F238E27FC236}">
                              <a16:creationId xmlns:a16="http://schemas.microsoft.com/office/drawing/2014/main" id="{4460B42C-B5BD-2946-E9AC-DA365D8067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46818" y="3165416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7" name="Oval 106">
                          <a:extLst>
                            <a:ext uri="{FF2B5EF4-FFF2-40B4-BE49-F238E27FC236}">
                              <a16:creationId xmlns:a16="http://schemas.microsoft.com/office/drawing/2014/main" id="{C4ED3F3D-09F0-585D-1740-3674756031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32754" y="3130437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8" name="Rectangle 107">
                          <a:extLst>
                            <a:ext uri="{FF2B5EF4-FFF2-40B4-BE49-F238E27FC236}">
                              <a16:creationId xmlns:a16="http://schemas.microsoft.com/office/drawing/2014/main" id="{CF94AA38-F52D-C35F-0B5F-209CC556068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860515" y="3139001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cxnSp>
                      <p:nvCxnSpPr>
                        <p:cNvPr id="109" name="Straight Connector 108">
                          <a:extLst>
                            <a:ext uri="{FF2B5EF4-FFF2-40B4-BE49-F238E27FC236}">
                              <a16:creationId xmlns:a16="http://schemas.microsoft.com/office/drawing/2014/main" id="{4D6D7723-1537-37D6-88C2-7C73D6040D2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584169" y="2604397"/>
                          <a:ext cx="4438980" cy="734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10" name="Group 109">
                          <a:extLst>
                            <a:ext uri="{FF2B5EF4-FFF2-40B4-BE49-F238E27FC236}">
                              <a16:creationId xmlns:a16="http://schemas.microsoft.com/office/drawing/2014/main" id="{D840B8B2-D18B-1E72-65CA-E78DC8657C5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284890" y="1821336"/>
                          <a:ext cx="1616498" cy="783061"/>
                          <a:chOff x="3284890" y="1821336"/>
                          <a:chExt cx="1616498" cy="783061"/>
                        </a:xfrm>
                      </p:grpSpPr>
                      <p:sp>
                        <p:nvSpPr>
                          <p:cNvPr id="122" name="Rectangle 121">
                            <a:extLst>
                              <a:ext uri="{FF2B5EF4-FFF2-40B4-BE49-F238E27FC236}">
                                <a16:creationId xmlns:a16="http://schemas.microsoft.com/office/drawing/2014/main" id="{91056ACE-C546-5E08-EF10-8F41DC326AF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284890" y="1821336"/>
                            <a:ext cx="515566" cy="515566"/>
                          </a:xfrm>
                          <a:prstGeom prst="rect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dirty="0">
                              <a:latin typeface="나눔스퀘어_ac Light" panose="020B0600000101010101" pitchFamily="50" charset="-127"/>
                            </a:endParaRPr>
                          </a:p>
                        </p:txBody>
                      </p:sp>
                      <p:sp>
                        <p:nvSpPr>
                          <p:cNvPr id="123" name="Oval 122">
                            <a:extLst>
                              <a:ext uri="{FF2B5EF4-FFF2-40B4-BE49-F238E27FC236}">
                                <a16:creationId xmlns:a16="http://schemas.microsoft.com/office/drawing/2014/main" id="{AD5653D0-77FF-5110-3B92-687A0DB4632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385822" y="1821336"/>
                            <a:ext cx="515566" cy="515566"/>
                          </a:xfrm>
                          <a:prstGeom prst="ellipse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dirty="0">
                              <a:latin typeface="나눔스퀘어_ac Light" panose="020B0600000101010101" pitchFamily="50" charset="-127"/>
                            </a:endParaRPr>
                          </a:p>
                        </p:txBody>
                      </p:sp>
                      <p:cxnSp>
                        <p:nvCxnSpPr>
                          <p:cNvPr id="124" name="Straight Connector 123">
                            <a:extLst>
                              <a:ext uri="{FF2B5EF4-FFF2-40B4-BE49-F238E27FC236}">
                                <a16:creationId xmlns:a16="http://schemas.microsoft.com/office/drawing/2014/main" id="{18A9B640-54EE-351A-C15B-98348A522362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108496" y="2073073"/>
                            <a:ext cx="0" cy="531324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111" name="Straight Connector 110">
                          <a:extLst>
                            <a:ext uri="{FF2B5EF4-FFF2-40B4-BE49-F238E27FC236}">
                              <a16:creationId xmlns:a16="http://schemas.microsoft.com/office/drawing/2014/main" id="{7AA8A191-6B1F-4C20-ACF4-8B5D3A6B705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593673" y="2611741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2" name="Straight Connector 111">
                          <a:extLst>
                            <a:ext uri="{FF2B5EF4-FFF2-40B4-BE49-F238E27FC236}">
                              <a16:creationId xmlns:a16="http://schemas.microsoft.com/office/drawing/2014/main" id="{43FF1A25-BFEB-E682-1E9F-66A131D423A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198729" y="2605808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3" name="Straight Connector 112">
                          <a:extLst>
                            <a:ext uri="{FF2B5EF4-FFF2-40B4-BE49-F238E27FC236}">
                              <a16:creationId xmlns:a16="http://schemas.microsoft.com/office/drawing/2014/main" id="{3CA9D811-A577-7E74-B16F-211F0EB771F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023149" y="2605395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4" name="Straight Connector 113">
                          <a:extLst>
                            <a:ext uri="{FF2B5EF4-FFF2-40B4-BE49-F238E27FC236}">
                              <a16:creationId xmlns:a16="http://schemas.microsoft.com/office/drawing/2014/main" id="{143C7CFB-2F6C-4EF6-29B6-E4346318E66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279083" y="3404373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5" name="Straight Connector 114">
                          <a:extLst>
                            <a:ext uri="{FF2B5EF4-FFF2-40B4-BE49-F238E27FC236}">
                              <a16:creationId xmlns:a16="http://schemas.microsoft.com/office/drawing/2014/main" id="{D1B0927F-193B-8640-6E2C-EC19D87C405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576309" y="3396016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6" name="Straight Connector 115">
                          <a:extLst>
                            <a:ext uri="{FF2B5EF4-FFF2-40B4-BE49-F238E27FC236}">
                              <a16:creationId xmlns:a16="http://schemas.microsoft.com/office/drawing/2014/main" id="{B08C7FD3-B440-D9B4-BA5E-647B4DA0D97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759872" y="3365256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17" name="Rectangle 116">
                          <a:extLst>
                            <a:ext uri="{FF2B5EF4-FFF2-40B4-BE49-F238E27FC236}">
                              <a16:creationId xmlns:a16="http://schemas.microsoft.com/office/drawing/2014/main" id="{D12D92E1-CD87-D5E5-C2A8-F77CCAF7330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129769" y="3156146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  <a:latin typeface="나눔스퀘어_ac Light" panose="020B0600000101010101" pitchFamily="50" charset="-127"/>
                            </a:rPr>
                            <a:t>A</a:t>
                          </a:r>
                        </a:p>
                      </p:txBody>
                    </p:sp>
                    <p:cxnSp>
                      <p:nvCxnSpPr>
                        <p:cNvPr id="118" name="Straight Connector 117">
                          <a:extLst>
                            <a:ext uri="{FF2B5EF4-FFF2-40B4-BE49-F238E27FC236}">
                              <a16:creationId xmlns:a16="http://schemas.microsoft.com/office/drawing/2014/main" id="{03672119-6AA3-6DE2-2DA2-92AC974CFDC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384857" y="2614655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19" name="Rectangle 118">
                          <a:extLst>
                            <a:ext uri="{FF2B5EF4-FFF2-40B4-BE49-F238E27FC236}">
                              <a16:creationId xmlns:a16="http://schemas.microsoft.com/office/drawing/2014/main" id="{F2B08DB6-89BB-04E1-E12B-83DCD433613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38481" y="3150614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cxnSp>
                      <p:nvCxnSpPr>
                        <p:cNvPr id="120" name="Straight Connector 119">
                          <a:extLst>
                            <a:ext uri="{FF2B5EF4-FFF2-40B4-BE49-F238E27FC236}">
                              <a16:creationId xmlns:a16="http://schemas.microsoft.com/office/drawing/2014/main" id="{97B27ADF-5295-9420-989C-C226930C78C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398596" y="2609596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1" name="Straight Connector 120">
                          <a:extLst>
                            <a:ext uri="{FF2B5EF4-FFF2-40B4-BE49-F238E27FC236}">
                              <a16:creationId xmlns:a16="http://schemas.microsoft.com/office/drawing/2014/main" id="{E38A339A-94A8-4C87-853B-79E6FE72174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49365" y="3380765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</p:grpSp>
          </p:grpSp>
        </p:grpSp>
      </p:grpSp>
      <p:sp>
        <p:nvSpPr>
          <p:cNvPr id="125" name="Title 1">
            <a:extLst>
              <a:ext uri="{FF2B5EF4-FFF2-40B4-BE49-F238E27FC236}">
                <a16:creationId xmlns:a16="http://schemas.microsoft.com/office/drawing/2014/main" id="{EFD00182-7633-D082-1DDE-A47725EEF4C9}"/>
              </a:ext>
            </a:extLst>
          </p:cNvPr>
          <p:cNvSpPr txBox="1">
            <a:spLocks/>
          </p:cNvSpPr>
          <p:nvPr/>
        </p:nvSpPr>
        <p:spPr>
          <a:xfrm>
            <a:off x="907463" y="1862296"/>
            <a:ext cx="4996809" cy="855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sz="2800" dirty="0"/>
              <a:t>If: X-linked Recessive</a:t>
            </a:r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26C961C1-CBEE-8EB5-B2D6-173570FAFAC0}"/>
              </a:ext>
            </a:extLst>
          </p:cNvPr>
          <p:cNvSpPr txBox="1">
            <a:spLocks/>
          </p:cNvSpPr>
          <p:nvPr/>
        </p:nvSpPr>
        <p:spPr>
          <a:xfrm>
            <a:off x="7233475" y="2606044"/>
            <a:ext cx="4450455" cy="855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sz="2400" dirty="0"/>
              <a:t>·Individual 1, 2 – Impossible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3FBD0A-7D70-5FAC-B7E3-D74BB4D56449}"/>
              </a:ext>
            </a:extLst>
          </p:cNvPr>
          <p:cNvSpPr txBox="1">
            <a:spLocks/>
          </p:cNvSpPr>
          <p:nvPr/>
        </p:nvSpPr>
        <p:spPr>
          <a:xfrm>
            <a:off x="669551" y="654291"/>
            <a:ext cx="60522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Mode of Inheritance</a:t>
            </a:r>
            <a:endParaRPr lang="en-GB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170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76"/>
    </mc:Choice>
    <mc:Fallback xmlns="">
      <p:transition spd="slow" advTm="877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0BF5D-42CD-8C97-BBBA-360DB909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91A837-5450-3D5C-164A-C0F5182EE7E9}"/>
              </a:ext>
            </a:extLst>
          </p:cNvPr>
          <p:cNvCxnSpPr>
            <a:cxnSpLocks/>
          </p:cNvCxnSpPr>
          <p:nvPr/>
        </p:nvCxnSpPr>
        <p:spPr>
          <a:xfrm>
            <a:off x="0" y="1671965"/>
            <a:ext cx="691008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E4D19D7-D3C4-6088-B50C-FDC468DA09D8}"/>
              </a:ext>
            </a:extLst>
          </p:cNvPr>
          <p:cNvGrpSpPr/>
          <p:nvPr/>
        </p:nvGrpSpPr>
        <p:grpSpPr>
          <a:xfrm>
            <a:off x="1099595" y="2722240"/>
            <a:ext cx="5432032" cy="3102017"/>
            <a:chOff x="2319822" y="1979854"/>
            <a:chExt cx="6955005" cy="397172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73AAF1E-4AE8-C227-AA6E-DA6DF30BF510}"/>
                </a:ext>
              </a:extLst>
            </p:cNvPr>
            <p:cNvCxnSpPr>
              <a:cxnSpLocks/>
              <a:stCxn id="122" idx="3"/>
              <a:endCxn id="123" idx="2"/>
            </p:cNvCxnSpPr>
            <p:nvPr/>
          </p:nvCxnSpPr>
          <p:spPr>
            <a:xfrm>
              <a:off x="4337501" y="2383837"/>
              <a:ext cx="46250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99149E2-E8EB-35AD-E888-610413C38C15}"/>
                </a:ext>
              </a:extLst>
            </p:cNvPr>
            <p:cNvGrpSpPr/>
            <p:nvPr/>
          </p:nvGrpSpPr>
          <p:grpSpPr>
            <a:xfrm>
              <a:off x="2319822" y="1979854"/>
              <a:ext cx="6955005" cy="3971726"/>
              <a:chOff x="1098537" y="1728581"/>
              <a:chExt cx="6955005" cy="3971726"/>
            </a:xfrm>
          </p:grpSpPr>
          <p:sp>
            <p:nvSpPr>
              <p:cNvPr id="67" name="Title 1">
                <a:extLst>
                  <a:ext uri="{FF2B5EF4-FFF2-40B4-BE49-F238E27FC236}">
                    <a16:creationId xmlns:a16="http://schemas.microsoft.com/office/drawing/2014/main" id="{8CE24FB4-7FF0-48A2-7C67-A7211DCB5D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9476" y="1728581"/>
                <a:ext cx="271488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</a:t>
                </a:r>
              </a:p>
            </p:txBody>
          </p:sp>
          <p:sp>
            <p:nvSpPr>
              <p:cNvPr id="68" name="Title 1">
                <a:extLst>
                  <a:ext uri="{FF2B5EF4-FFF2-40B4-BE49-F238E27FC236}">
                    <a16:creationId xmlns:a16="http://schemas.microsoft.com/office/drawing/2014/main" id="{F3CFE3BA-5907-AA77-8A91-5BDE61522A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7976" y="3851327"/>
                <a:ext cx="515566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III</a:t>
                </a:r>
              </a:p>
            </p:txBody>
          </p:sp>
          <p:sp>
            <p:nvSpPr>
              <p:cNvPr id="69" name="Title 1">
                <a:extLst>
                  <a:ext uri="{FF2B5EF4-FFF2-40B4-BE49-F238E27FC236}">
                    <a16:creationId xmlns:a16="http://schemas.microsoft.com/office/drawing/2014/main" id="{1B1A2BBA-FA60-8C82-5C94-4A59C29EAF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7976" y="4901896"/>
                <a:ext cx="515566" cy="7984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000" dirty="0">
                    <a:latin typeface="나눔스퀘어_ac Light" panose="020B0600000101010101" pitchFamily="50" charset="-127"/>
                  </a:rPr>
                  <a:t>IV</a:t>
                </a: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6B638356-5D7F-6A15-AF75-710F5F9EB488}"/>
                  </a:ext>
                </a:extLst>
              </p:cNvPr>
              <p:cNvGrpSpPr/>
              <p:nvPr/>
            </p:nvGrpSpPr>
            <p:grpSpPr>
              <a:xfrm>
                <a:off x="1098537" y="1928885"/>
                <a:ext cx="6866912" cy="3575897"/>
                <a:chOff x="1098537" y="1928885"/>
                <a:chExt cx="6866912" cy="3575897"/>
              </a:xfrm>
            </p:grpSpPr>
            <p:sp>
              <p:nvSpPr>
                <p:cNvPr id="71" name="Title 1">
                  <a:extLst>
                    <a:ext uri="{FF2B5EF4-FFF2-40B4-BE49-F238E27FC236}">
                      <a16:creationId xmlns:a16="http://schemas.microsoft.com/office/drawing/2014/main" id="{21666778-1CCE-7A0E-F68C-9B898F981A1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549887" y="2749560"/>
                  <a:ext cx="415562" cy="79841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r>
                    <a:rPr lang="en-GB" sz="2000" dirty="0">
                      <a:latin typeface="나눔스퀘어_ac Light" panose="020B0600000101010101" pitchFamily="50" charset="-127"/>
                    </a:rPr>
                    <a:t>II</a:t>
                  </a:r>
                </a:p>
              </p:txBody>
            </p: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B557584A-0C07-284C-B7CD-751F654696FD}"/>
                    </a:ext>
                  </a:extLst>
                </p:cNvPr>
                <p:cNvGrpSpPr/>
                <p:nvPr/>
              </p:nvGrpSpPr>
              <p:grpSpPr>
                <a:xfrm>
                  <a:off x="1098537" y="1928885"/>
                  <a:ext cx="5722393" cy="3575897"/>
                  <a:chOff x="1246818" y="1821336"/>
                  <a:chExt cx="7242443" cy="4525770"/>
                </a:xfrm>
              </p:grpSpPr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E6D1C6F5-F272-68AC-4B69-65939749FE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67318" y="3928706"/>
                    <a:ext cx="156964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4" name="Group 73">
                    <a:extLst>
                      <a:ext uri="{FF2B5EF4-FFF2-40B4-BE49-F238E27FC236}">
                        <a16:creationId xmlns:a16="http://schemas.microsoft.com/office/drawing/2014/main" id="{9B7ED830-DFEE-AB08-03BB-135EF6C6A13D}"/>
                      </a:ext>
                    </a:extLst>
                  </p:cNvPr>
                  <p:cNvGrpSpPr/>
                  <p:nvPr/>
                </p:nvGrpSpPr>
                <p:grpSpPr>
                  <a:xfrm>
                    <a:off x="1246818" y="1821336"/>
                    <a:ext cx="7242443" cy="4525770"/>
                    <a:chOff x="1246818" y="1821336"/>
                    <a:chExt cx="7242443" cy="4525770"/>
                  </a:xfrm>
                </p:grpSpPr>
                <p:cxnSp>
                  <p:nvCxnSpPr>
                    <p:cNvPr id="75" name="Straight Connector 74">
                      <a:extLst>
                        <a:ext uri="{FF2B5EF4-FFF2-40B4-BE49-F238E27FC236}">
                          <a16:creationId xmlns:a16="http://schemas.microsoft.com/office/drawing/2014/main" id="{8A06F3BA-B85A-C2A8-6F7D-0DEB9A5D977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26866" y="4718282"/>
                      <a:ext cx="1794817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76" name="Group 75">
                      <a:extLst>
                        <a:ext uri="{FF2B5EF4-FFF2-40B4-BE49-F238E27FC236}">
                          <a16:creationId xmlns:a16="http://schemas.microsoft.com/office/drawing/2014/main" id="{2C2463FA-F8BF-63E7-53E7-FABA37144A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46818" y="1821336"/>
                      <a:ext cx="7242443" cy="4525770"/>
                      <a:chOff x="1246818" y="1821336"/>
                      <a:chExt cx="7242443" cy="4525770"/>
                    </a:xfrm>
                  </p:grpSpPr>
                  <p:sp>
                    <p:nvSpPr>
                      <p:cNvPr id="77" name="Rectangle 76">
                        <a:extLst>
                          <a:ext uri="{FF2B5EF4-FFF2-40B4-BE49-F238E27FC236}">
                            <a16:creationId xmlns:a16="http://schemas.microsoft.com/office/drawing/2014/main" id="{B56F8E8A-6A88-9027-4E6C-7D385BC7D2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02494" y="4442599"/>
                        <a:ext cx="515564" cy="515810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9D4F4726-A4B8-9CDD-92B4-6908591CC4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91615" y="4439083"/>
                        <a:ext cx="515566" cy="51556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GB" dirty="0">
                            <a:latin typeface="나눔스퀘어_ac Light" panose="020B0600000101010101" pitchFamily="50" charset="-127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79" name="Rectangle 78">
                        <a:extLst>
                          <a:ext uri="{FF2B5EF4-FFF2-40B4-BE49-F238E27FC236}">
                            <a16:creationId xmlns:a16="http://schemas.microsoft.com/office/drawing/2014/main" id="{BF7C2B53-98E3-0124-50F4-21EA251A19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4057" y="4439083"/>
                        <a:ext cx="515566" cy="515566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0" name="Oval 79">
                        <a:extLst>
                          <a:ext uri="{FF2B5EF4-FFF2-40B4-BE49-F238E27FC236}">
                            <a16:creationId xmlns:a16="http://schemas.microsoft.com/office/drawing/2014/main" id="{33B9308B-39FB-2B8B-11CF-FA2F08B4AB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24440" y="4460499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1" name="Oval 80">
                        <a:extLst>
                          <a:ext uri="{FF2B5EF4-FFF2-40B4-BE49-F238E27FC236}">
                            <a16:creationId xmlns:a16="http://schemas.microsoft.com/office/drawing/2014/main" id="{52B20B21-F85C-68D9-7E7D-447ACA44ED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02405" y="4466626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sp>
                    <p:nvSpPr>
                      <p:cNvPr id="82" name="Rectangle 81">
                        <a:extLst>
                          <a:ext uri="{FF2B5EF4-FFF2-40B4-BE49-F238E27FC236}">
                            <a16:creationId xmlns:a16="http://schemas.microsoft.com/office/drawing/2014/main" id="{192D01AD-83B4-8EEB-9B56-16E37275C2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73695" y="4453440"/>
                        <a:ext cx="515566" cy="51556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GB" dirty="0">
                            <a:latin typeface="나눔스퀘어_ac Light" panose="020B0600000101010101" pitchFamily="50" charset="-127"/>
                          </a:rPr>
                          <a:t>2</a:t>
                        </a:r>
                      </a:p>
                    </p:txBody>
                  </p:sp>
                  <p:sp>
                    <p:nvSpPr>
                      <p:cNvPr id="83" name="Oval 82">
                        <a:extLst>
                          <a:ext uri="{FF2B5EF4-FFF2-40B4-BE49-F238E27FC236}">
                            <a16:creationId xmlns:a16="http://schemas.microsoft.com/office/drawing/2014/main" id="{C7EBFD3E-FCD2-4E7C-5E42-6AC2DA887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3102" y="5815782"/>
                        <a:ext cx="515566" cy="51556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GB" dirty="0">
                            <a:latin typeface="나눔스퀘어_ac Light" panose="020B0600000101010101" pitchFamily="50" charset="-127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84" name="Oval 83">
                        <a:extLst>
                          <a:ext uri="{FF2B5EF4-FFF2-40B4-BE49-F238E27FC236}">
                            <a16:creationId xmlns:a16="http://schemas.microsoft.com/office/drawing/2014/main" id="{A57289C8-8DAC-0786-083C-7D26A49EEA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3439" y="5831540"/>
                        <a:ext cx="515566" cy="515566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cxnSp>
                    <p:nvCxnSpPr>
                      <p:cNvPr id="85" name="Straight Connector 84">
                        <a:extLst>
                          <a:ext uri="{FF2B5EF4-FFF2-40B4-BE49-F238E27FC236}">
                            <a16:creationId xmlns:a16="http://schemas.microsoft.com/office/drawing/2014/main" id="{949ADB87-E711-91A2-3393-BD0B3E67E16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054969" y="3373147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" name="Straight Connector 85">
                        <a:extLst>
                          <a:ext uri="{FF2B5EF4-FFF2-40B4-BE49-F238E27FC236}">
                            <a16:creationId xmlns:a16="http://schemas.microsoft.com/office/drawing/2014/main" id="{5D55DC4F-DEE5-1258-428B-18E33C48732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556366" y="3904471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Straight Connector 86">
                        <a:extLst>
                          <a:ext uri="{FF2B5EF4-FFF2-40B4-BE49-F238E27FC236}">
                            <a16:creationId xmlns:a16="http://schemas.microsoft.com/office/drawing/2014/main" id="{3807F0B4-4497-80CC-AF9B-6598460E21A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90481" y="3904471"/>
                        <a:ext cx="956554" cy="680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Straight Connector 87">
                        <a:extLst>
                          <a:ext uri="{FF2B5EF4-FFF2-40B4-BE49-F238E27FC236}">
                            <a16:creationId xmlns:a16="http://schemas.microsoft.com/office/drawing/2014/main" id="{B1F0B49B-EBD2-6C62-E47D-799E73D6496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968640" y="3379023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9" name="Straight Connector 88">
                        <a:extLst>
                          <a:ext uri="{FF2B5EF4-FFF2-40B4-BE49-F238E27FC236}">
                            <a16:creationId xmlns:a16="http://schemas.microsoft.com/office/drawing/2014/main" id="{F4EBC6B2-5520-75B5-1949-332F401FB4A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549398" y="3907759"/>
                        <a:ext cx="82244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0" name="Straight Connector 89">
                        <a:extLst>
                          <a:ext uri="{FF2B5EF4-FFF2-40B4-BE49-F238E27FC236}">
                            <a16:creationId xmlns:a16="http://schemas.microsoft.com/office/drawing/2014/main" id="{A0C76046-774E-C8B8-B9EC-5ADB0A13948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549398" y="3907759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1" name="Straight Connector 90">
                        <a:extLst>
                          <a:ext uri="{FF2B5EF4-FFF2-40B4-BE49-F238E27FC236}">
                            <a16:creationId xmlns:a16="http://schemas.microsoft.com/office/drawing/2014/main" id="{733384AA-4AD5-8DB5-230D-CEA1D4DA69E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374620" y="3900763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2" name="Straight Connector 91">
                        <a:extLst>
                          <a:ext uri="{FF2B5EF4-FFF2-40B4-BE49-F238E27FC236}">
                            <a16:creationId xmlns:a16="http://schemas.microsoft.com/office/drawing/2014/main" id="{49799461-970C-E013-DF67-AB06757D430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674342" y="3926512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3" name="Straight Connector 92">
                        <a:extLst>
                          <a:ext uri="{FF2B5EF4-FFF2-40B4-BE49-F238E27FC236}">
                            <a16:creationId xmlns:a16="http://schemas.microsoft.com/office/drawing/2014/main" id="{C179BB86-7FC3-7A6A-9ABF-F2F72FD762F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452139" y="3935878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" name="Straight Connector 93">
                        <a:extLst>
                          <a:ext uri="{FF2B5EF4-FFF2-40B4-BE49-F238E27FC236}">
                            <a16:creationId xmlns:a16="http://schemas.microsoft.com/office/drawing/2014/main" id="{9D9B318E-7139-DDD5-2605-203A5424E28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234377" y="3935302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5" name="Straight Connector 94">
                        <a:extLst>
                          <a:ext uri="{FF2B5EF4-FFF2-40B4-BE49-F238E27FC236}">
                            <a16:creationId xmlns:a16="http://schemas.microsoft.com/office/drawing/2014/main" id="{8F460442-01F5-5DE2-FECB-99079E0369A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629623" y="4758907"/>
                        <a:ext cx="1807106" cy="624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" name="Straight Connector 95">
                        <a:extLst>
                          <a:ext uri="{FF2B5EF4-FFF2-40B4-BE49-F238E27FC236}">
                            <a16:creationId xmlns:a16="http://schemas.microsoft.com/office/drawing/2014/main" id="{0F7D5E95-B42C-89C7-4A4C-3D9B1822E73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581054" y="4765351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Straight Connector 96">
                        <a:extLst>
                          <a:ext uri="{FF2B5EF4-FFF2-40B4-BE49-F238E27FC236}">
                            <a16:creationId xmlns:a16="http://schemas.microsoft.com/office/drawing/2014/main" id="{1D5E57A4-6968-79A1-EEE2-1EA92B7E81A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91222" y="5296675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8" name="Straight Connector 97">
                        <a:extLst>
                          <a:ext uri="{FF2B5EF4-FFF2-40B4-BE49-F238E27FC236}">
                            <a16:creationId xmlns:a16="http://schemas.microsoft.com/office/drawing/2014/main" id="{287E6C39-E85C-4BCC-ED30-DC496746166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84078" y="5296675"/>
                        <a:ext cx="1193951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9" name="Straight Connector 98">
                        <a:extLst>
                          <a:ext uri="{FF2B5EF4-FFF2-40B4-BE49-F238E27FC236}">
                            <a16:creationId xmlns:a16="http://schemas.microsoft.com/office/drawing/2014/main" id="{D85F795C-4819-C6EF-3313-CD3F5E5F94D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179850" y="5298496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0" name="Straight Connector 99">
                        <a:extLst>
                          <a:ext uri="{FF2B5EF4-FFF2-40B4-BE49-F238E27FC236}">
                            <a16:creationId xmlns:a16="http://schemas.microsoft.com/office/drawing/2014/main" id="{DAC4926E-30DE-1585-4BCB-C6BCA80D546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99812" y="3911275"/>
                        <a:ext cx="0" cy="53132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1" name="Rectangle 100">
                        <a:extLst>
                          <a:ext uri="{FF2B5EF4-FFF2-40B4-BE49-F238E27FC236}">
                            <a16:creationId xmlns:a16="http://schemas.microsoft.com/office/drawing/2014/main" id="{6BFB2D3D-8FDE-CB58-476A-611B24F50C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54934" y="4442843"/>
                        <a:ext cx="515566" cy="515566"/>
                      </a:xfrm>
                      <a:prstGeom prst="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dirty="0">
                          <a:latin typeface="나눔스퀘어_ac Light" panose="020B0600000101010101" pitchFamily="50" charset="-127"/>
                        </a:endParaRPr>
                      </a:p>
                    </p:txBody>
                  </p:sp>
                  <p:grpSp>
                    <p:nvGrpSpPr>
                      <p:cNvPr id="102" name="Group 101">
                        <a:extLst>
                          <a:ext uri="{FF2B5EF4-FFF2-40B4-BE49-F238E27FC236}">
                            <a16:creationId xmlns:a16="http://schemas.microsoft.com/office/drawing/2014/main" id="{5CED82E3-4FC1-F51C-4393-E2D9FBC9E70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46818" y="1821336"/>
                        <a:ext cx="7129263" cy="2106004"/>
                        <a:chOff x="1246818" y="1821336"/>
                        <a:chExt cx="7129263" cy="2106004"/>
                      </a:xfrm>
                    </p:grpSpPr>
                    <p:sp>
                      <p:nvSpPr>
                        <p:cNvPr id="103" name="Oval 102">
                          <a:extLst>
                            <a:ext uri="{FF2B5EF4-FFF2-40B4-BE49-F238E27FC236}">
                              <a16:creationId xmlns:a16="http://schemas.microsoft.com/office/drawing/2014/main" id="{D725AE1E-AEA8-1335-71C3-089C59D83C7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47750" y="3152703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4" name="Oval 103">
                          <a:extLst>
                            <a:ext uri="{FF2B5EF4-FFF2-40B4-BE49-F238E27FC236}">
                              <a16:creationId xmlns:a16="http://schemas.microsoft.com/office/drawing/2014/main" id="{87F0B56C-A78F-67F5-B1A5-7FBCE552E47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60068" y="3145728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  <a:latin typeface="나눔스퀘어_ac Light" panose="020B0600000101010101" pitchFamily="50" charset="-127"/>
                            </a:rPr>
                            <a:t>B</a:t>
                          </a:r>
                        </a:p>
                      </p:txBody>
                    </p:sp>
                    <p:sp>
                      <p:nvSpPr>
                        <p:cNvPr id="105" name="Oval 104">
                          <a:extLst>
                            <a:ext uri="{FF2B5EF4-FFF2-40B4-BE49-F238E27FC236}">
                              <a16:creationId xmlns:a16="http://schemas.microsoft.com/office/drawing/2014/main" id="{7857032B-EDB0-6D29-3C97-69DE667C3A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30694" y="3144170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6" name="Rectangle 105">
                          <a:extLst>
                            <a:ext uri="{FF2B5EF4-FFF2-40B4-BE49-F238E27FC236}">
                              <a16:creationId xmlns:a16="http://schemas.microsoft.com/office/drawing/2014/main" id="{9754498B-CE1C-807F-886B-4766B63A029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46818" y="3165416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7" name="Oval 106">
                          <a:extLst>
                            <a:ext uri="{FF2B5EF4-FFF2-40B4-BE49-F238E27FC236}">
                              <a16:creationId xmlns:a16="http://schemas.microsoft.com/office/drawing/2014/main" id="{D2AE6BE3-601D-B043-4778-AF55CEE5BA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32754" y="3130437"/>
                          <a:ext cx="515566" cy="515566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sp>
                      <p:nvSpPr>
                        <p:cNvPr id="108" name="Rectangle 107">
                          <a:extLst>
                            <a:ext uri="{FF2B5EF4-FFF2-40B4-BE49-F238E27FC236}">
                              <a16:creationId xmlns:a16="http://schemas.microsoft.com/office/drawing/2014/main" id="{FFE748AA-E8D8-F503-8265-F7BD3E14BAE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860515" y="3139001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cxnSp>
                      <p:nvCxnSpPr>
                        <p:cNvPr id="109" name="Straight Connector 108">
                          <a:extLst>
                            <a:ext uri="{FF2B5EF4-FFF2-40B4-BE49-F238E27FC236}">
                              <a16:creationId xmlns:a16="http://schemas.microsoft.com/office/drawing/2014/main" id="{AC6EE921-C6FB-0811-667C-A23451186E4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584169" y="2604397"/>
                          <a:ext cx="4438980" cy="734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10" name="Group 109">
                          <a:extLst>
                            <a:ext uri="{FF2B5EF4-FFF2-40B4-BE49-F238E27FC236}">
                              <a16:creationId xmlns:a16="http://schemas.microsoft.com/office/drawing/2014/main" id="{C3F5A0CD-1DAC-9D93-D255-FE1A0F7174B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284890" y="1821336"/>
                          <a:ext cx="1616498" cy="783061"/>
                          <a:chOff x="3284890" y="1821336"/>
                          <a:chExt cx="1616498" cy="783061"/>
                        </a:xfrm>
                      </p:grpSpPr>
                      <p:sp>
                        <p:nvSpPr>
                          <p:cNvPr id="122" name="Rectangle 121">
                            <a:extLst>
                              <a:ext uri="{FF2B5EF4-FFF2-40B4-BE49-F238E27FC236}">
                                <a16:creationId xmlns:a16="http://schemas.microsoft.com/office/drawing/2014/main" id="{26FCF774-913F-01CD-CAFB-D160E2E204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284890" y="1821336"/>
                            <a:ext cx="515566" cy="515566"/>
                          </a:xfrm>
                          <a:prstGeom prst="rect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dirty="0">
                              <a:latin typeface="나눔스퀘어_ac Light" panose="020B0600000101010101" pitchFamily="50" charset="-127"/>
                            </a:endParaRPr>
                          </a:p>
                        </p:txBody>
                      </p:sp>
                      <p:sp>
                        <p:nvSpPr>
                          <p:cNvPr id="123" name="Oval 122">
                            <a:extLst>
                              <a:ext uri="{FF2B5EF4-FFF2-40B4-BE49-F238E27FC236}">
                                <a16:creationId xmlns:a16="http://schemas.microsoft.com/office/drawing/2014/main" id="{371DFFB9-4A1A-AADA-84ED-6211C2A8B6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385822" y="1821336"/>
                            <a:ext cx="515566" cy="515566"/>
                          </a:xfrm>
                          <a:prstGeom prst="ellipse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dirty="0">
                              <a:latin typeface="나눔스퀘어_ac Light" panose="020B0600000101010101" pitchFamily="50" charset="-127"/>
                            </a:endParaRPr>
                          </a:p>
                        </p:txBody>
                      </p:sp>
                      <p:cxnSp>
                        <p:nvCxnSpPr>
                          <p:cNvPr id="124" name="Straight Connector 123">
                            <a:extLst>
                              <a:ext uri="{FF2B5EF4-FFF2-40B4-BE49-F238E27FC236}">
                                <a16:creationId xmlns:a16="http://schemas.microsoft.com/office/drawing/2014/main" id="{63E0F308-CBB1-8B38-9E6D-6CEA0151B7F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108496" y="2073073"/>
                            <a:ext cx="0" cy="531324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111" name="Straight Connector 110">
                          <a:extLst>
                            <a:ext uri="{FF2B5EF4-FFF2-40B4-BE49-F238E27FC236}">
                              <a16:creationId xmlns:a16="http://schemas.microsoft.com/office/drawing/2014/main" id="{6B9FC51A-D73E-53B8-3665-EBD127B69E8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593673" y="2611741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2" name="Straight Connector 111">
                          <a:extLst>
                            <a:ext uri="{FF2B5EF4-FFF2-40B4-BE49-F238E27FC236}">
                              <a16:creationId xmlns:a16="http://schemas.microsoft.com/office/drawing/2014/main" id="{9CFAD12A-E754-A818-0A05-8F7E298AB75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198729" y="2605808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3" name="Straight Connector 112">
                          <a:extLst>
                            <a:ext uri="{FF2B5EF4-FFF2-40B4-BE49-F238E27FC236}">
                              <a16:creationId xmlns:a16="http://schemas.microsoft.com/office/drawing/2014/main" id="{707DCB2D-1917-84B9-893A-1BCF5654337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023149" y="2605395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4" name="Straight Connector 113">
                          <a:extLst>
                            <a:ext uri="{FF2B5EF4-FFF2-40B4-BE49-F238E27FC236}">
                              <a16:creationId xmlns:a16="http://schemas.microsoft.com/office/drawing/2014/main" id="{4F21D0D9-854E-B8B2-907C-3BBB6B3DFD4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279083" y="3404373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5" name="Straight Connector 114">
                          <a:extLst>
                            <a:ext uri="{FF2B5EF4-FFF2-40B4-BE49-F238E27FC236}">
                              <a16:creationId xmlns:a16="http://schemas.microsoft.com/office/drawing/2014/main" id="{F823E36A-17A9-9FE6-60A1-87811C30E9F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576309" y="3396016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6" name="Straight Connector 115">
                          <a:extLst>
                            <a:ext uri="{FF2B5EF4-FFF2-40B4-BE49-F238E27FC236}">
                              <a16:creationId xmlns:a16="http://schemas.microsoft.com/office/drawing/2014/main" id="{CBAB59A8-1C1A-2344-C9CA-22D29B1702D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759872" y="3365256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17" name="Rectangle 116">
                          <a:extLst>
                            <a:ext uri="{FF2B5EF4-FFF2-40B4-BE49-F238E27FC236}">
                              <a16:creationId xmlns:a16="http://schemas.microsoft.com/office/drawing/2014/main" id="{C3D4D13A-63DB-415C-565B-3C19D19533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129769" y="3156146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  <a:latin typeface="나눔스퀘어_ac Light" panose="020B0600000101010101" pitchFamily="50" charset="-127"/>
                            </a:rPr>
                            <a:t>A</a:t>
                          </a:r>
                        </a:p>
                      </p:txBody>
                    </p:sp>
                    <p:cxnSp>
                      <p:nvCxnSpPr>
                        <p:cNvPr id="118" name="Straight Connector 117">
                          <a:extLst>
                            <a:ext uri="{FF2B5EF4-FFF2-40B4-BE49-F238E27FC236}">
                              <a16:creationId xmlns:a16="http://schemas.microsoft.com/office/drawing/2014/main" id="{24B3E1D8-2BB6-9412-8DE5-139750E700C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384857" y="2614655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19" name="Rectangle 118">
                          <a:extLst>
                            <a:ext uri="{FF2B5EF4-FFF2-40B4-BE49-F238E27FC236}">
                              <a16:creationId xmlns:a16="http://schemas.microsoft.com/office/drawing/2014/main" id="{694AD9E6-0E97-F41A-D6D1-5B0F9A07E2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38481" y="3150614"/>
                          <a:ext cx="515566" cy="515566"/>
                        </a:xfrm>
                        <a:prstGeom prst="rect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dirty="0">
                            <a:latin typeface="나눔스퀘어_ac Light" panose="020B0600000101010101" pitchFamily="50" charset="-127"/>
                          </a:endParaRPr>
                        </a:p>
                      </p:txBody>
                    </p:sp>
                    <p:cxnSp>
                      <p:nvCxnSpPr>
                        <p:cNvPr id="120" name="Straight Connector 119">
                          <a:extLst>
                            <a:ext uri="{FF2B5EF4-FFF2-40B4-BE49-F238E27FC236}">
                              <a16:creationId xmlns:a16="http://schemas.microsoft.com/office/drawing/2014/main" id="{C57942FA-9358-F528-EBB9-4085AA9436A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398596" y="2609596"/>
                          <a:ext cx="0" cy="53132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1" name="Straight Connector 120">
                          <a:extLst>
                            <a:ext uri="{FF2B5EF4-FFF2-40B4-BE49-F238E27FC236}">
                              <a16:creationId xmlns:a16="http://schemas.microsoft.com/office/drawing/2014/main" id="{B282A538-B4B3-AAD7-2C32-DFB4BCAC898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49365" y="3380765"/>
                          <a:ext cx="58536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</p:grpSp>
          </p:grpSp>
        </p:grpSp>
      </p:grpSp>
      <p:sp>
        <p:nvSpPr>
          <p:cNvPr id="125" name="Title 1">
            <a:extLst>
              <a:ext uri="{FF2B5EF4-FFF2-40B4-BE49-F238E27FC236}">
                <a16:creationId xmlns:a16="http://schemas.microsoft.com/office/drawing/2014/main" id="{7AECDCC9-3A5C-4F8A-4B04-CD5535FC3908}"/>
              </a:ext>
            </a:extLst>
          </p:cNvPr>
          <p:cNvSpPr txBox="1">
            <a:spLocks/>
          </p:cNvSpPr>
          <p:nvPr/>
        </p:nvSpPr>
        <p:spPr>
          <a:xfrm>
            <a:off x="907463" y="1862296"/>
            <a:ext cx="4996809" cy="855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sz="2800" dirty="0"/>
              <a:t>If: X-linked Dominant</a:t>
            </a:r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65D0225F-1B89-1563-A7F5-17C8892F8971}"/>
              </a:ext>
            </a:extLst>
          </p:cNvPr>
          <p:cNvSpPr txBox="1">
            <a:spLocks/>
          </p:cNvSpPr>
          <p:nvPr/>
        </p:nvSpPr>
        <p:spPr>
          <a:xfrm>
            <a:off x="7233475" y="2606044"/>
            <a:ext cx="4450455" cy="855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sz="2400" dirty="0"/>
              <a:t>·Individual 1, 2, 3 – Impossible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1BEF4D1-1667-EA91-1594-2147B820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551" y="654291"/>
            <a:ext cx="6052261" cy="1325563"/>
          </a:xfrm>
        </p:spPr>
        <p:txBody>
          <a:bodyPr/>
          <a:lstStyle/>
          <a:p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Mode of Inheritance</a:t>
            </a:r>
          </a:p>
        </p:txBody>
      </p:sp>
    </p:spTree>
    <p:extLst>
      <p:ext uri="{BB962C8B-B14F-4D97-AF65-F5344CB8AC3E}">
        <p14:creationId xmlns:p14="http://schemas.microsoft.com/office/powerpoint/2010/main" val="342579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62"/>
    </mc:Choice>
    <mc:Fallback xmlns="">
      <p:transition spd="slow" advTm="366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A8ED6-D91A-4088-80FA-487FC0A5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A0DC6D-D78C-E7EF-DBAA-53ED584F5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525605"/>
              </p:ext>
            </p:extLst>
          </p:nvPr>
        </p:nvGraphicFramePr>
        <p:xfrm>
          <a:off x="1131401" y="2689640"/>
          <a:ext cx="4073220" cy="2962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740">
                  <a:extLst>
                    <a:ext uri="{9D8B030D-6E8A-4147-A177-3AD203B41FA5}">
                      <a16:colId xmlns:a16="http://schemas.microsoft.com/office/drawing/2014/main" val="4032677845"/>
                    </a:ext>
                  </a:extLst>
                </a:gridCol>
                <a:gridCol w="1357740">
                  <a:extLst>
                    <a:ext uri="{9D8B030D-6E8A-4147-A177-3AD203B41FA5}">
                      <a16:colId xmlns:a16="http://schemas.microsoft.com/office/drawing/2014/main" val="1389948414"/>
                    </a:ext>
                  </a:extLst>
                </a:gridCol>
                <a:gridCol w="1357740">
                  <a:extLst>
                    <a:ext uri="{9D8B030D-6E8A-4147-A177-3AD203B41FA5}">
                      <a16:colId xmlns:a16="http://schemas.microsoft.com/office/drawing/2014/main" val="3046890888"/>
                    </a:ext>
                  </a:extLst>
                </a:gridCol>
              </a:tblGrid>
              <a:tr h="987531">
                <a:tc>
                  <a:txBody>
                    <a:bodyPr/>
                    <a:lstStyle/>
                    <a:p>
                      <a:pPr algn="ctr"/>
                      <a:endParaRPr lang="en-GB" sz="29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</a:endParaRPr>
                    </a:p>
                  </a:txBody>
                  <a:tcPr marL="82144" marR="82144" marT="41072" marB="410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900" b="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</a:rPr>
                        <a:t>T</a:t>
                      </a:r>
                    </a:p>
                  </a:txBody>
                  <a:tcPr marL="82144" marR="82144" marT="41072" marB="410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900" b="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</a:rPr>
                        <a:t>t</a:t>
                      </a:r>
                    </a:p>
                  </a:txBody>
                  <a:tcPr marL="82144" marR="82144" marT="41072" marB="410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440046"/>
                  </a:ext>
                </a:extLst>
              </a:tr>
              <a:tr h="987531">
                <a:tc>
                  <a:txBody>
                    <a:bodyPr/>
                    <a:lstStyle/>
                    <a:p>
                      <a:pPr algn="ctr"/>
                      <a:r>
                        <a:rPr lang="en-GB" sz="29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</a:rPr>
                        <a:t>T</a:t>
                      </a:r>
                    </a:p>
                  </a:txBody>
                  <a:tcPr marL="82144" marR="82144" marT="41072" marB="410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9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</a:rPr>
                        <a:t>TT</a:t>
                      </a:r>
                    </a:p>
                  </a:txBody>
                  <a:tcPr marL="82144" marR="82144" marT="41072" marB="410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9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</a:rPr>
                        <a:t>Tt</a:t>
                      </a:r>
                    </a:p>
                  </a:txBody>
                  <a:tcPr marL="82144" marR="82144" marT="41072" marB="410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53025"/>
                  </a:ext>
                </a:extLst>
              </a:tr>
              <a:tr h="987531">
                <a:tc>
                  <a:txBody>
                    <a:bodyPr/>
                    <a:lstStyle/>
                    <a:p>
                      <a:pPr algn="ctr"/>
                      <a:r>
                        <a:rPr lang="en-GB" sz="29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</a:rPr>
                        <a:t>t</a:t>
                      </a:r>
                    </a:p>
                  </a:txBody>
                  <a:tcPr marL="82144" marR="82144" marT="41072" marB="410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900" dirty="0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</a:rPr>
                        <a:t>Tt</a:t>
                      </a:r>
                    </a:p>
                  </a:txBody>
                  <a:tcPr marL="82144" marR="82144" marT="41072" marB="410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900" dirty="0" err="1">
                          <a:solidFill>
                            <a:schemeClr val="tx1"/>
                          </a:solidFill>
                          <a:latin typeface="나눔스퀘어_ac Light" panose="020B0600000101010101" pitchFamily="50" charset="-127"/>
                          <a:ea typeface="나눔스퀘어_ac Light" panose="020B0600000101010101" pitchFamily="50" charset="-127"/>
                        </a:rPr>
                        <a:t>tt</a:t>
                      </a:r>
                      <a:endParaRPr lang="en-GB" sz="2900" dirty="0">
                        <a:solidFill>
                          <a:schemeClr val="tx1"/>
                        </a:solidFill>
                        <a:latin typeface="나눔스퀘어_ac Light" panose="020B0600000101010101" pitchFamily="50" charset="-127"/>
                        <a:ea typeface="나눔스퀘어_ac Light" panose="020B0600000101010101" pitchFamily="50" charset="-127"/>
                      </a:endParaRPr>
                    </a:p>
                  </a:txBody>
                  <a:tcPr marL="82144" marR="82144" marT="41072" marB="410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74355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6ABA1B3F-6A08-A204-C016-006407AF9937}"/>
              </a:ext>
            </a:extLst>
          </p:cNvPr>
          <p:cNvSpPr txBox="1">
            <a:spLocks/>
          </p:cNvSpPr>
          <p:nvPr/>
        </p:nvSpPr>
        <p:spPr>
          <a:xfrm>
            <a:off x="669551" y="654291"/>
            <a:ext cx="104417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Prediction of the Risk of Disease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F53DC6-9F76-2A1F-70BC-AC5029899EEE}"/>
              </a:ext>
            </a:extLst>
          </p:cNvPr>
          <p:cNvCxnSpPr>
            <a:cxnSpLocks/>
          </p:cNvCxnSpPr>
          <p:nvPr/>
        </p:nvCxnSpPr>
        <p:spPr>
          <a:xfrm>
            <a:off x="0" y="1671965"/>
            <a:ext cx="691008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191CF62-E2F0-394A-2DEF-FEEE4EB17514}"/>
              </a:ext>
            </a:extLst>
          </p:cNvPr>
          <p:cNvSpPr txBox="1">
            <a:spLocks/>
          </p:cNvSpPr>
          <p:nvPr/>
        </p:nvSpPr>
        <p:spPr>
          <a:xfrm>
            <a:off x="2103965" y="1551869"/>
            <a:ext cx="7049763" cy="855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sz="2800" dirty="0"/>
              <a:t>:If married cousins had another child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C0B2BA-C8D6-F154-0527-D7ED9DED329A}"/>
              </a:ext>
            </a:extLst>
          </p:cNvPr>
          <p:cNvGrpSpPr/>
          <p:nvPr/>
        </p:nvGrpSpPr>
        <p:grpSpPr>
          <a:xfrm>
            <a:off x="6103754" y="2723458"/>
            <a:ext cx="2981497" cy="2006601"/>
            <a:chOff x="7168601" y="2989657"/>
            <a:chExt cx="3234465" cy="2176853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9796F75-058F-C899-9B7F-9A4888BC37B1}"/>
                </a:ext>
              </a:extLst>
            </p:cNvPr>
            <p:cNvCxnSpPr>
              <a:cxnSpLocks/>
            </p:cNvCxnSpPr>
            <p:nvPr/>
          </p:nvCxnSpPr>
          <p:spPr>
            <a:xfrm>
              <a:off x="7752991" y="3283875"/>
              <a:ext cx="19953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587B008-2F25-5279-E632-D4F4798E06F2}"/>
                </a:ext>
              </a:extLst>
            </p:cNvPr>
            <p:cNvGrpSpPr/>
            <p:nvPr/>
          </p:nvGrpSpPr>
          <p:grpSpPr>
            <a:xfrm>
              <a:off x="7168601" y="2989657"/>
              <a:ext cx="3234465" cy="2176853"/>
              <a:chOff x="7168601" y="2989657"/>
              <a:chExt cx="3234465" cy="2176853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29B2F01C-4B23-837B-F86E-2A616EC247B7}"/>
                  </a:ext>
                </a:extLst>
              </p:cNvPr>
              <p:cNvGrpSpPr/>
              <p:nvPr/>
            </p:nvGrpSpPr>
            <p:grpSpPr>
              <a:xfrm>
                <a:off x="7168601" y="2989657"/>
                <a:ext cx="3234465" cy="2132866"/>
                <a:chOff x="7168601" y="2992512"/>
                <a:chExt cx="1787619" cy="1178789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ABC0031-5443-CBDD-1364-1256C2F46918}"/>
                    </a:ext>
                  </a:extLst>
                </p:cNvPr>
                <p:cNvSpPr/>
                <p:nvPr/>
              </p:nvSpPr>
              <p:spPr>
                <a:xfrm>
                  <a:off x="7168601" y="2996041"/>
                  <a:ext cx="318157" cy="31815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solidFill>
                        <a:schemeClr val="tx1"/>
                      </a:solidFill>
                      <a:latin typeface="나눔스퀘어_ac Light" panose="020B0600000101010101" pitchFamily="50" charset="-127"/>
                    </a:rPr>
                    <a:t>Tt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82C89ED4-2EA4-5DA5-F05B-EC1C7B0D6829}"/>
                    </a:ext>
                  </a:extLst>
                </p:cNvPr>
                <p:cNvSpPr/>
                <p:nvPr/>
              </p:nvSpPr>
              <p:spPr>
                <a:xfrm>
                  <a:off x="8599166" y="2992512"/>
                  <a:ext cx="357054" cy="35705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solidFill>
                        <a:schemeClr val="tx1"/>
                      </a:solidFill>
                      <a:latin typeface="나눔스퀘어_ac Light" panose="020B0600000101010101" pitchFamily="50" charset="-127"/>
                    </a:rPr>
                    <a:t>Tt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AD47E453-10C1-99B4-7B62-B6D33F34E893}"/>
                    </a:ext>
                  </a:extLst>
                </p:cNvPr>
                <p:cNvSpPr/>
                <p:nvPr/>
              </p:nvSpPr>
              <p:spPr>
                <a:xfrm>
                  <a:off x="7860392" y="3853144"/>
                  <a:ext cx="318157" cy="31815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latin typeface="나눔스퀘어_ac Light" panose="020B0600000101010101" pitchFamily="50" charset="-127"/>
                  </a:endParaRP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0CC89CF6-262E-1EF5-5677-1F8BE5832938}"/>
                    </a:ext>
                  </a:extLst>
                </p:cNvPr>
                <p:cNvSpPr/>
                <p:nvPr/>
              </p:nvSpPr>
              <p:spPr>
                <a:xfrm>
                  <a:off x="7325907" y="3853144"/>
                  <a:ext cx="318157" cy="3181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latin typeface="나눔스퀘어_ac Light" panose="020B0600000101010101" pitchFamily="50" charset="-127"/>
                  </a:endParaRPr>
                </a:p>
              </p:txBody>
            </p: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E1936878-1747-D92F-ABD7-3E00453D2B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85377" y="3197382"/>
                  <a:ext cx="111517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C99D8F1C-9CAE-96F9-B938-46AD46AAD8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73889" y="3197382"/>
                  <a:ext cx="0" cy="32788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9974735-3E96-0610-3BE2-0674D74C9A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84985" y="3525263"/>
                  <a:ext cx="0" cy="32788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0ACDB895-A35D-65DF-3966-73EC956CEA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84985" y="3525263"/>
                  <a:ext cx="106897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52FA949A-767C-9298-6F77-A64A11507A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19471" y="3525263"/>
                  <a:ext cx="0" cy="32788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3AF04860-0329-C520-A42B-80076DB442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73459" y="3953601"/>
                <a:ext cx="0" cy="5932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Diamond 29">
                <a:extLst>
                  <a:ext uri="{FF2B5EF4-FFF2-40B4-BE49-F238E27FC236}">
                    <a16:creationId xmlns:a16="http://schemas.microsoft.com/office/drawing/2014/main" id="{6A5D3B40-D97F-F3A9-839C-FE5456D56281}"/>
                  </a:ext>
                </a:extLst>
              </p:cNvPr>
              <p:cNvSpPr/>
              <p:nvPr/>
            </p:nvSpPr>
            <p:spPr>
              <a:xfrm>
                <a:off x="9350436" y="4520465"/>
                <a:ext cx="646045" cy="646045"/>
              </a:xfrm>
              <a:prstGeom prst="diamond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p:grp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DB1535F9-32B9-DF02-CB18-F5572E14489D}"/>
              </a:ext>
            </a:extLst>
          </p:cNvPr>
          <p:cNvSpPr txBox="1">
            <a:spLocks/>
          </p:cNvSpPr>
          <p:nvPr/>
        </p:nvSpPr>
        <p:spPr>
          <a:xfrm>
            <a:off x="1970615" y="5588549"/>
            <a:ext cx="7049763" cy="855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sz="2800" dirty="0">
                <a:ea typeface="나눔스퀘어_ac Light" panose="020B0600000101010101" pitchFamily="50" charset="-127"/>
              </a:rPr>
              <a:t>⇒ ½×½=¼ (25%)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0FA65-EDE5-A5B2-B0E2-D3BDFEBEEB7F}"/>
              </a:ext>
            </a:extLst>
          </p:cNvPr>
          <p:cNvSpPr txBox="1">
            <a:spLocks/>
          </p:cNvSpPr>
          <p:nvPr/>
        </p:nvSpPr>
        <p:spPr>
          <a:xfrm>
            <a:off x="9440863" y="4747492"/>
            <a:ext cx="2557173" cy="1746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sz="2800" dirty="0"/>
              <a:t>T: Dominant</a:t>
            </a:r>
          </a:p>
          <a:p>
            <a:r>
              <a:rPr lang="en-GB" sz="2800" dirty="0"/>
              <a:t>t: recessive</a:t>
            </a:r>
          </a:p>
        </p:txBody>
      </p:sp>
    </p:spTree>
    <p:extLst>
      <p:ext uri="{BB962C8B-B14F-4D97-AF65-F5344CB8AC3E}">
        <p14:creationId xmlns:p14="http://schemas.microsoft.com/office/powerpoint/2010/main" val="343483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536"/>
    </mc:Choice>
    <mc:Fallback xmlns="">
      <p:transition spd="slow" advTm="16536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101C4-1BA4-4406-8374-BC615514E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CE26-5500-003D-DE37-E0BC19768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551" y="1099112"/>
            <a:ext cx="6334672" cy="850179"/>
          </a:xfrm>
        </p:spPr>
        <p:txBody>
          <a:bodyPr>
            <a:noAutofit/>
          </a:bodyPr>
          <a:lstStyle/>
          <a:p>
            <a:pPr algn="r"/>
            <a:r>
              <a:rPr lang="en-GB" sz="2800" dirty="0"/>
              <a:t>Symptoms Appeared in the Pedigree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9BD97E-AF15-7257-B4DD-E82DE7393FA4}"/>
              </a:ext>
            </a:extLst>
          </p:cNvPr>
          <p:cNvSpPr txBox="1">
            <a:spLocks/>
          </p:cNvSpPr>
          <p:nvPr/>
        </p:nvSpPr>
        <p:spPr>
          <a:xfrm>
            <a:off x="803563" y="2229151"/>
            <a:ext cx="11102110" cy="3848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200000"/>
              </a:lnSpc>
              <a:buFont typeface="나눔스퀘어_ac Light" panose="020B0600000101010101" pitchFamily="50" charset="-127"/>
              <a:buChar char="­"/>
            </a:pPr>
            <a:r>
              <a:rPr lang="en-GB" sz="2400" dirty="0"/>
              <a:t>Prone to bacterial infections</a:t>
            </a:r>
          </a:p>
          <a:p>
            <a:pPr marL="457200" indent="-457200">
              <a:lnSpc>
                <a:spcPct val="200000"/>
              </a:lnSpc>
              <a:buFont typeface="나눔스퀘어_ac Light" panose="020B0600000101010101" pitchFamily="50" charset="-127"/>
              <a:buChar char="­"/>
            </a:pPr>
            <a:r>
              <a:rPr lang="en-GB" sz="2400" dirty="0"/>
              <a:t>Delayed growth in early childhood</a:t>
            </a:r>
          </a:p>
          <a:p>
            <a:pPr marL="457200" indent="-457200">
              <a:lnSpc>
                <a:spcPct val="200000"/>
              </a:lnSpc>
              <a:buFont typeface="나눔스퀘어_ac Light" panose="020B0600000101010101" pitchFamily="50" charset="-127"/>
              <a:buChar char="­"/>
            </a:pPr>
            <a:r>
              <a:rPr lang="en-GB" sz="2400" dirty="0"/>
              <a:t>Chronic fatigue</a:t>
            </a:r>
          </a:p>
          <a:p>
            <a:pPr marL="457200" indent="-457200">
              <a:lnSpc>
                <a:spcPct val="200000"/>
              </a:lnSpc>
              <a:buFont typeface="나눔스퀘어_ac Light" panose="020B0600000101010101" pitchFamily="50" charset="-127"/>
              <a:buChar char="­"/>
            </a:pPr>
            <a:r>
              <a:rPr lang="en-GB" sz="2400" dirty="0"/>
              <a:t>Swollen hands and feet</a:t>
            </a:r>
          </a:p>
          <a:p>
            <a:pPr marL="457200" indent="-457200">
              <a:lnSpc>
                <a:spcPct val="200000"/>
              </a:lnSpc>
              <a:buFont typeface="나눔스퀘어_ac Light" panose="020B0600000101010101" pitchFamily="50" charset="-127"/>
              <a:buChar char="­"/>
            </a:pPr>
            <a:r>
              <a:rPr lang="en-GB" sz="2400" dirty="0"/>
              <a:t>Severe joint pain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35BE0E-0711-A9DB-76C3-A66A156EC3A6}"/>
              </a:ext>
            </a:extLst>
          </p:cNvPr>
          <p:cNvCxnSpPr>
            <a:cxnSpLocks/>
          </p:cNvCxnSpPr>
          <p:nvPr/>
        </p:nvCxnSpPr>
        <p:spPr>
          <a:xfrm>
            <a:off x="0" y="1062368"/>
            <a:ext cx="691008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543B225B-2820-E98E-B189-72E213B2BEC9}"/>
              </a:ext>
            </a:extLst>
          </p:cNvPr>
          <p:cNvSpPr txBox="1">
            <a:spLocks/>
          </p:cNvSpPr>
          <p:nvPr/>
        </p:nvSpPr>
        <p:spPr>
          <a:xfrm>
            <a:off x="669551" y="44694"/>
            <a:ext cx="60522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Possible Diseases</a:t>
            </a:r>
          </a:p>
        </p:txBody>
      </p:sp>
    </p:spTree>
    <p:extLst>
      <p:ext uri="{BB962C8B-B14F-4D97-AF65-F5344CB8AC3E}">
        <p14:creationId xmlns:p14="http://schemas.microsoft.com/office/powerpoint/2010/main" val="358532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90"/>
    </mc:Choice>
    <mc:Fallback xmlns="">
      <p:transition spd="slow" advTm="1559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13317-1211-F7B6-4AB3-5430EAC0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18EB5-03A3-44CB-2566-E81CF96E4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732" y="1062368"/>
            <a:ext cx="3477491" cy="850179"/>
          </a:xfrm>
        </p:spPr>
        <p:txBody>
          <a:bodyPr>
            <a:noAutofit/>
          </a:bodyPr>
          <a:lstStyle/>
          <a:p>
            <a:pPr algn="r"/>
            <a:r>
              <a:rPr lang="en-GB" sz="2800" dirty="0"/>
              <a:t>Bartter’s Syndrome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7B0485-D247-9D6A-C60A-1253AD45DAF7}"/>
              </a:ext>
            </a:extLst>
          </p:cNvPr>
          <p:cNvCxnSpPr>
            <a:cxnSpLocks/>
          </p:cNvCxnSpPr>
          <p:nvPr/>
        </p:nvCxnSpPr>
        <p:spPr>
          <a:xfrm>
            <a:off x="0" y="1062368"/>
            <a:ext cx="691008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CA72A98-9418-5F8C-E047-5FDA20B4C1C2}"/>
              </a:ext>
            </a:extLst>
          </p:cNvPr>
          <p:cNvSpPr txBox="1">
            <a:spLocks/>
          </p:cNvSpPr>
          <p:nvPr/>
        </p:nvSpPr>
        <p:spPr>
          <a:xfrm>
            <a:off x="669551" y="44694"/>
            <a:ext cx="60522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Possible Diseases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5CAC2C-DD01-4114-8F21-1317F7A66B04}"/>
              </a:ext>
            </a:extLst>
          </p:cNvPr>
          <p:cNvSpPr txBox="1">
            <a:spLocks/>
          </p:cNvSpPr>
          <p:nvPr/>
        </p:nvSpPr>
        <p:spPr>
          <a:xfrm>
            <a:off x="803563" y="2047581"/>
            <a:ext cx="11102110" cy="3848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나눔스퀘어_ac Light" panose="020B0600000101010101" pitchFamily="50" charset="-127"/>
              <a:buChar char="­"/>
            </a:pPr>
            <a:r>
              <a:rPr lang="en-GB" sz="2400" dirty="0"/>
              <a:t>Autosomal recessive disorder of salt reabsorption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⇒ extracellular fluid volume depletion w/ lower/ normal blood pressure</a:t>
            </a:r>
          </a:p>
          <a:p>
            <a:pPr>
              <a:lnSpc>
                <a:spcPct val="150000"/>
              </a:lnSpc>
            </a:pPr>
            <a:r>
              <a:rPr lang="en-GB" sz="18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	(Bokhari et al., 2023)</a:t>
            </a:r>
            <a:endParaRPr lang="en-GB" sz="1800" dirty="0"/>
          </a:p>
          <a:p>
            <a:pPr marL="457200" indent="-457200">
              <a:lnSpc>
                <a:spcPct val="150000"/>
              </a:lnSpc>
              <a:buFont typeface="나눔스퀘어_ac Light" panose="020B0600000101010101" pitchFamily="50" charset="-127"/>
              <a:buChar char="­"/>
            </a:pPr>
            <a:r>
              <a:rPr lang="en-GB" sz="2400" dirty="0"/>
              <a:t>Mutations in the gene SLC23A3 (Sodium chloride cotransporter)</a:t>
            </a:r>
          </a:p>
          <a:p>
            <a:pPr>
              <a:lnSpc>
                <a:spcPct val="150000"/>
              </a:lnSpc>
            </a:pPr>
            <a:r>
              <a:rPr lang="en-GB" sz="18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	(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Ravarotto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 et al., 2024)</a:t>
            </a:r>
            <a:endParaRPr lang="en-GB" sz="1800" dirty="0"/>
          </a:p>
          <a:p>
            <a:pPr marL="457200" indent="-457200">
              <a:lnSpc>
                <a:spcPct val="150000"/>
              </a:lnSpc>
              <a:buFont typeface="나눔스퀘어_ac Light" panose="020B0600000101010101" pitchFamily="50" charset="-127"/>
              <a:buChar char="­"/>
            </a:pPr>
            <a:r>
              <a:rPr lang="en-GB" sz="2400" dirty="0">
                <a:highlight>
                  <a:srgbClr val="C0C0C0"/>
                </a:highlight>
              </a:rPr>
              <a:t>Delay in Growth</a:t>
            </a:r>
            <a:r>
              <a:rPr lang="en-GB" sz="2400" dirty="0"/>
              <a:t>, muscle weakness, </a:t>
            </a:r>
            <a:r>
              <a:rPr lang="en-GB" sz="2400" dirty="0">
                <a:highlight>
                  <a:srgbClr val="C0C0C0"/>
                </a:highlight>
              </a:rPr>
              <a:t>joint pain </a:t>
            </a:r>
            <a:r>
              <a:rPr lang="en-GB" sz="2400" dirty="0"/>
              <a:t>due to chondrocalcinosis*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	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(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Punzi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 et al., 1998)</a:t>
            </a:r>
            <a:endParaRPr lang="en-GB" sz="1800" dirty="0"/>
          </a:p>
          <a:p>
            <a:pPr>
              <a:lnSpc>
                <a:spcPct val="150000"/>
              </a:lnSpc>
            </a:pPr>
            <a:endParaRPr lang="en-GB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298A1F6-6145-C239-EFA7-268DEADD1444}"/>
              </a:ext>
            </a:extLst>
          </p:cNvPr>
          <p:cNvSpPr txBox="1">
            <a:spLocks/>
          </p:cNvSpPr>
          <p:nvPr/>
        </p:nvSpPr>
        <p:spPr>
          <a:xfrm>
            <a:off x="669551" y="6031049"/>
            <a:ext cx="10138258" cy="855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sz="2000" dirty="0">
                <a:ea typeface="나눔스퀘어_ac Light" panose="020B0600000101010101" pitchFamily="50" charset="-127"/>
              </a:rPr>
              <a:t>*chondrocalcinosis: type of arthritis, excessive accumulation of calcium in joints</a:t>
            </a:r>
          </a:p>
        </p:txBody>
      </p:sp>
    </p:spTree>
    <p:extLst>
      <p:ext uri="{BB962C8B-B14F-4D97-AF65-F5344CB8AC3E}">
        <p14:creationId xmlns:p14="http://schemas.microsoft.com/office/powerpoint/2010/main" val="304192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02"/>
    </mc:Choice>
    <mc:Fallback xmlns="">
      <p:transition spd="slow" advTm="1850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AE369-80D3-F3D0-79AF-9C6C49402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84EC-7497-1655-EFAB-0383FA90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732" y="1062368"/>
            <a:ext cx="3477491" cy="850179"/>
          </a:xfrm>
        </p:spPr>
        <p:txBody>
          <a:bodyPr>
            <a:noAutofit/>
          </a:bodyPr>
          <a:lstStyle/>
          <a:p>
            <a:pPr algn="r"/>
            <a:r>
              <a:rPr lang="en-GB" sz="2800" dirty="0"/>
              <a:t>Sickle Cell Anaemia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534EE8-E9E7-81F8-0F98-424705FB4E56}"/>
              </a:ext>
            </a:extLst>
          </p:cNvPr>
          <p:cNvCxnSpPr>
            <a:cxnSpLocks/>
          </p:cNvCxnSpPr>
          <p:nvPr/>
        </p:nvCxnSpPr>
        <p:spPr>
          <a:xfrm>
            <a:off x="0" y="1062368"/>
            <a:ext cx="691008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F834ECFB-6CBA-2C1E-9275-2008FC2EE69D}"/>
              </a:ext>
            </a:extLst>
          </p:cNvPr>
          <p:cNvSpPr txBox="1">
            <a:spLocks/>
          </p:cNvSpPr>
          <p:nvPr/>
        </p:nvSpPr>
        <p:spPr>
          <a:xfrm>
            <a:off x="669551" y="44694"/>
            <a:ext cx="60522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Possible Diseases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862219-4618-2A48-4E31-41DC75FB6549}"/>
              </a:ext>
            </a:extLst>
          </p:cNvPr>
          <p:cNvSpPr txBox="1">
            <a:spLocks/>
          </p:cNvSpPr>
          <p:nvPr/>
        </p:nvSpPr>
        <p:spPr>
          <a:xfrm>
            <a:off x="803563" y="2047581"/>
            <a:ext cx="11102110" cy="32601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나눔스퀘어_ac Light" panose="020B0600000101010101" pitchFamily="50" charset="-127"/>
              <a:buChar char="­"/>
            </a:pPr>
            <a:r>
              <a:rPr lang="en-GB" sz="2400" dirty="0"/>
              <a:t>Autosomal recessive disorder of mutated haemoglobin shape</a:t>
            </a:r>
          </a:p>
          <a:p>
            <a:pPr marL="457200" indent="-457200">
              <a:lnSpc>
                <a:spcPct val="150000"/>
              </a:lnSpc>
              <a:buFont typeface="나눔스퀘어_ac Light" panose="020B0600000101010101" pitchFamily="50" charset="-127"/>
              <a:buChar char="­"/>
            </a:pPr>
            <a:r>
              <a:rPr lang="en-GB" sz="2400" dirty="0"/>
              <a:t>Homozygosity of the beta-S (βS) allele (on chromosome 11)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	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(</a:t>
            </a:r>
            <a:r>
              <a:rPr lang="en-GB" sz="2000" b="0" i="0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Sundd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 et al., 2020)</a:t>
            </a:r>
            <a:endParaRPr lang="en-GB" sz="2000" dirty="0"/>
          </a:p>
          <a:p>
            <a:pPr marL="457200" indent="-457200">
              <a:lnSpc>
                <a:spcPct val="150000"/>
              </a:lnSpc>
              <a:buFont typeface="나눔스퀘어_ac Light" panose="020B0600000101010101" pitchFamily="50" charset="-127"/>
              <a:buChar char="­"/>
            </a:pPr>
            <a:r>
              <a:rPr lang="en-GB" sz="2400" dirty="0">
                <a:highlight>
                  <a:srgbClr val="C0C0C0"/>
                </a:highlight>
              </a:rPr>
              <a:t>Chronic fatigue</a:t>
            </a:r>
            <a:r>
              <a:rPr lang="en-GB" sz="2400" dirty="0"/>
              <a:t>, </a:t>
            </a:r>
            <a:r>
              <a:rPr lang="en-GB" sz="2400" dirty="0">
                <a:highlight>
                  <a:srgbClr val="C0C0C0"/>
                </a:highlight>
              </a:rPr>
              <a:t>dactylitis*</a:t>
            </a:r>
            <a:r>
              <a:rPr lang="en-GB" sz="2400" dirty="0"/>
              <a:t>, </a:t>
            </a:r>
            <a:r>
              <a:rPr lang="en-GB" sz="2400" dirty="0">
                <a:highlight>
                  <a:srgbClr val="C0C0C0"/>
                </a:highlight>
              </a:rPr>
              <a:t>getting infections frequently</a:t>
            </a:r>
            <a:r>
              <a:rPr lang="en-GB" sz="2400" dirty="0"/>
              <a:t>, anaemia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	</a:t>
            </a:r>
            <a:r>
              <a:rPr lang="en-GB" sz="1800" dirty="0"/>
              <a:t>(NIH, 2024), (NHS, 2023)</a:t>
            </a:r>
          </a:p>
          <a:p>
            <a:pPr>
              <a:lnSpc>
                <a:spcPct val="150000"/>
              </a:lnSpc>
            </a:pPr>
            <a:endParaRPr lang="en-GB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7ECE8B3-F1CB-87DC-F765-B980789ABA4C}"/>
              </a:ext>
            </a:extLst>
          </p:cNvPr>
          <p:cNvSpPr txBox="1">
            <a:spLocks/>
          </p:cNvSpPr>
          <p:nvPr/>
        </p:nvSpPr>
        <p:spPr>
          <a:xfrm>
            <a:off x="669551" y="6031049"/>
            <a:ext cx="10138258" cy="855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r>
              <a:rPr lang="en-GB" sz="2000" dirty="0">
                <a:ea typeface="나눔스퀘어_ac Light" panose="020B0600000101010101" pitchFamily="50" charset="-127"/>
              </a:rPr>
              <a:t>*dactylitis: swelling of hands and feet</a:t>
            </a:r>
          </a:p>
        </p:txBody>
      </p:sp>
    </p:spTree>
    <p:extLst>
      <p:ext uri="{BB962C8B-B14F-4D97-AF65-F5344CB8AC3E}">
        <p14:creationId xmlns:p14="http://schemas.microsoft.com/office/powerpoint/2010/main" val="81796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23"/>
    </mc:Choice>
    <mc:Fallback xmlns="">
      <p:transition spd="slow" advTm="2052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B8B65-69C1-02A2-5286-463094E8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BFB9-16F4-5B03-F8A2-95A928F3F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692" y="2349021"/>
            <a:ext cx="5263375" cy="2342949"/>
          </a:xfrm>
        </p:spPr>
        <p:txBody>
          <a:bodyPr>
            <a:noAutofit/>
          </a:bodyPr>
          <a:lstStyle/>
          <a:p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Hahmlet Black" pitchFamily="2" charset="-127"/>
              </a:rPr>
              <a:t>Thank you</a:t>
            </a:r>
            <a:b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Hahmlet Black" pitchFamily="2" charset="-127"/>
              </a:rPr>
            </a:br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Hahmlet Black" pitchFamily="2" charset="-127"/>
              </a:rPr>
              <a:t>for listening</a:t>
            </a:r>
            <a:b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Hahmlet Black" pitchFamily="2" charset="-127"/>
              </a:rPr>
            </a:br>
            <a:r>
              <a:rPr lang="en-GB" dirty="0">
                <a:latin typeface="나눔스퀘어_ac Bold" panose="020B0600000101010101" pitchFamily="50" charset="-127"/>
                <a:ea typeface="나눔스퀘어_ac Bold" panose="020B0600000101010101" pitchFamily="50" charset="-127"/>
                <a:cs typeface="Hahmlet Black" pitchFamily="2" charset="-127"/>
              </a:rPr>
              <a:t>            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3C02AC-230B-176A-FAAA-36402C7B88EE}"/>
              </a:ext>
            </a:extLst>
          </p:cNvPr>
          <p:cNvCxnSpPr>
            <a:cxnSpLocks/>
          </p:cNvCxnSpPr>
          <p:nvPr/>
        </p:nvCxnSpPr>
        <p:spPr>
          <a:xfrm>
            <a:off x="0" y="3101372"/>
            <a:ext cx="397291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6534052-FFDE-AC32-D8F5-F8EB09F038D6}"/>
              </a:ext>
            </a:extLst>
          </p:cNvPr>
          <p:cNvSpPr txBox="1"/>
          <p:nvPr/>
        </p:nvSpPr>
        <p:spPr>
          <a:xfrm>
            <a:off x="4719145" y="1096144"/>
            <a:ext cx="7472855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ts val="2400"/>
              </a:lnSpc>
            </a:pP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Bokhari, S. R. A., Zulfiqar, H., &amp; Mansur, A. (2020). 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Bartter Syndrome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. PubMed; StatPearls Publishing. https://www.ncbi.nlm.nih.gov/books/NBK442019/</a:t>
            </a:r>
          </a:p>
          <a:p>
            <a:pPr marL="457200" indent="-457200" algn="l">
              <a:lnSpc>
                <a:spcPts val="2400"/>
              </a:lnSpc>
            </a:pP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National Heart, Lung and Blood Institute. (2022, July 14). 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Sickle Cell Disease - Symptoms | NHLBI, NIH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. Www.nhlbi.nih.gov. https://www.nhlbi.nih.gov/health/sickle-cell-disease/symptoms</a:t>
            </a:r>
          </a:p>
          <a:p>
            <a:pPr marL="457200" indent="-457200" algn="l">
              <a:lnSpc>
                <a:spcPts val="2400"/>
              </a:lnSpc>
            </a:pP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NHS. (2019). 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Symptoms - Sickle Cell Disease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. NHS. https://www.nhs.uk/conditions/sickle-cell-disease/symptoms/</a:t>
            </a:r>
          </a:p>
          <a:p>
            <a:pPr marL="457200" indent="-457200" algn="l">
              <a:lnSpc>
                <a:spcPts val="2400"/>
              </a:lnSpc>
            </a:pPr>
            <a:r>
              <a:rPr lang="en-GB" sz="1600" b="0" i="0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Punzi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, L.,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Calò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, L., Schiavon, F., Schiavon, M., Rosada, M., &amp;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Todesco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, S. (2022). Chondrocalcinosis is a feature of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Gitelman’s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 variant of Bartter’s syndrome. A new look at the hypomagnesemia associated with calcium pyrophosphate dihydrate crystal deposition disease. 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Revue Du </a:t>
            </a:r>
            <a:r>
              <a:rPr lang="en-GB" sz="1600" b="0" i="1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Rhumatisme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 (English Ed.)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, 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65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(10). https://pubmed.ncbi.nlm.nih.gov/9809361/</a:t>
            </a:r>
          </a:p>
          <a:p>
            <a:pPr marL="457200" indent="-457200" algn="l">
              <a:lnSpc>
                <a:spcPts val="2400"/>
              </a:lnSpc>
            </a:pPr>
            <a:r>
              <a:rPr lang="en-GB" sz="1600" b="0" i="0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Ravarotto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, V.,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Cacciapuoti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, M., &amp;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Calò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, L. A. (2024). Bartter and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Gitelman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 syndromes. In 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Reference Module in Biomedical Sciences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. Elsevier. https://doi.org/10.1016/B978-0-443-13825-6.00113-8</a:t>
            </a:r>
          </a:p>
          <a:p>
            <a:pPr marL="457200" indent="-457200" algn="l">
              <a:lnSpc>
                <a:spcPts val="2400"/>
              </a:lnSpc>
            </a:pPr>
            <a:r>
              <a:rPr lang="en-GB" sz="1600" b="0" i="0" dirty="0" err="1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Sundd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, P., Gladwin, M. T., &amp; Novelli, E. M. (2019). Pathophysiology of Sickle Cell Disease. 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Annual Review of Pathology: Mechanisms of Disease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, 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14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나눔스퀘어_ac Light" panose="020B0600000101010101" pitchFamily="50" charset="-127"/>
                <a:ea typeface="나눔스퀘어_ac Light" panose="020B0600000101010101" pitchFamily="50" charset="-127"/>
              </a:rPr>
              <a:t>(1), 263–292. https://doi.org/10.1146/annurev-pathmechdis-012418-012838</a:t>
            </a:r>
          </a:p>
          <a:p>
            <a:endParaRPr lang="en-GB" sz="1600" dirty="0">
              <a:latin typeface="나눔스퀘어_ac Light" panose="020B0600000101010101" pitchFamily="50" charset="-127"/>
              <a:ea typeface="나눔스퀘어_ac Light" panose="020B0600000101010101" pitchFamily="50" charset="-127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A90A7AA-307E-ADB7-6C8E-45754B97C35C}"/>
              </a:ext>
            </a:extLst>
          </p:cNvPr>
          <p:cNvSpPr txBox="1">
            <a:spLocks/>
          </p:cNvSpPr>
          <p:nvPr/>
        </p:nvSpPr>
        <p:spPr>
          <a:xfrm>
            <a:off x="4589909" y="260385"/>
            <a:ext cx="25781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스퀘어_ac Light" panose="020B0600000101010101" pitchFamily="50" charset="-127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References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EB04A-361C-F2C3-C90E-42AFF6D2B5ED}"/>
              </a:ext>
            </a:extLst>
          </p:cNvPr>
          <p:cNvCxnSpPr>
            <a:cxnSpLocks/>
          </p:cNvCxnSpPr>
          <p:nvPr/>
        </p:nvCxnSpPr>
        <p:spPr>
          <a:xfrm>
            <a:off x="5028817" y="1096144"/>
            <a:ext cx="7163183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5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11"/>
    </mc:Choice>
    <mc:Fallback xmlns="">
      <p:transition spd="slow" advTm="221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663</Words>
  <Application>Microsoft Office PowerPoint</Application>
  <PresentationFormat>Widescreen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나눔스퀘어_ac Bold</vt:lpstr>
      <vt:lpstr>나눔스퀘어_ac Light</vt:lpstr>
      <vt:lpstr>맑은 고딕</vt:lpstr>
      <vt:lpstr>Arial</vt:lpstr>
      <vt:lpstr>Office Theme</vt:lpstr>
      <vt:lpstr>Case Study 2              4012BIO</vt:lpstr>
      <vt:lpstr>Contents</vt:lpstr>
      <vt:lpstr>Genetic Pedigree</vt:lpstr>
      <vt:lpstr>Mode of Inheritance:  Autosomal Recessive</vt:lpstr>
      <vt:lpstr>Mode of Inheritance</vt:lpstr>
      <vt:lpstr>PowerPoint Presentation</vt:lpstr>
      <vt:lpstr>Mode of Inheritance</vt:lpstr>
      <vt:lpstr>PowerPoint Presentation</vt:lpstr>
      <vt:lpstr>Symptoms Appeared in the Pedigree</vt:lpstr>
      <vt:lpstr>Bartter’s Syndrome</vt:lpstr>
      <vt:lpstr>Sickle Cell Anaemia</vt:lpstr>
      <vt:lpstr>Thank you for listening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wldbs thd</dc:creator>
  <cp:lastModifiedBy>wldbs thd</cp:lastModifiedBy>
  <cp:revision>2</cp:revision>
  <dcterms:created xsi:type="dcterms:W3CDTF">2024-11-18T15:26:12Z</dcterms:created>
  <dcterms:modified xsi:type="dcterms:W3CDTF">2026-03-04T20:48:22Z</dcterms:modified>
</cp:coreProperties>
</file>